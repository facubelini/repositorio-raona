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de éxito Aeropuertos Argentina: oneHUB, el Digital Workplace sobre Microsoft 365 desarrollado por Raona. Repasar desafío, solución y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82550" y="247650"/>
            <a:ext cx="3238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192125" y="247650"/>
            <a:ext cx="600075" cy="85725"/>
          </a:xfrm>
          <a:prstGeom prst="roundRect">
            <a:avLst>
              <a:gd name="adj" fmla="val 44444"/>
            </a:avLst>
          </a:prstGeom>
          <a:solidFill>
            <a:srgbClr val="E85B9E">
              <a:alpha val="4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877925" y="247650"/>
            <a:ext cx="2952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258925" y="247650"/>
            <a:ext cx="73342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782550" y="457200"/>
            <a:ext cx="7905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658850" y="457200"/>
            <a:ext cx="6477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392275" y="457200"/>
            <a:ext cx="8001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278100" y="457200"/>
            <a:ext cx="70485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068675" y="457200"/>
            <a:ext cx="3714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201650" y="666750"/>
            <a:ext cx="32385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3611225" y="666750"/>
            <a:ext cx="10477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4744700" y="666750"/>
            <a:ext cx="581025" cy="85725"/>
          </a:xfrm>
          <a:prstGeom prst="roundRect">
            <a:avLst>
              <a:gd name="adj" fmla="val 44444"/>
            </a:avLst>
          </a:prstGeom>
          <a:solidFill>
            <a:srgbClr val="E85B9E">
              <a:alpha val="47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411450" y="666750"/>
            <a:ext cx="800100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297275" y="666750"/>
            <a:ext cx="3714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782550" y="876300"/>
            <a:ext cx="695325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563600" y="876300"/>
            <a:ext cx="352425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782550" y="1085850"/>
            <a:ext cx="2952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3163550" y="1085850"/>
            <a:ext cx="4286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677900" y="1085850"/>
            <a:ext cx="6286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992100" y="1295400"/>
            <a:ext cx="876300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954125" y="1295400"/>
            <a:ext cx="3429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382750" y="1295400"/>
            <a:ext cx="6096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2573000" y="1504950"/>
            <a:ext cx="809625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468350" y="1504950"/>
            <a:ext cx="1038225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592300" y="1504950"/>
            <a:ext cx="600075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782550" y="1714500"/>
            <a:ext cx="60960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3477875" y="1714500"/>
            <a:ext cx="4476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4011275" y="1714500"/>
            <a:ext cx="8572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954250" y="1714500"/>
            <a:ext cx="457200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497175" y="1714500"/>
            <a:ext cx="9620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3201650" y="1924050"/>
            <a:ext cx="866775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4154150" y="1924050"/>
            <a:ext cx="6953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35200" y="1924050"/>
            <a:ext cx="50482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5525750" y="1924050"/>
            <a:ext cx="40957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6021050" y="1924050"/>
            <a:ext cx="809625" cy="85725"/>
          </a:xfrm>
          <a:prstGeom prst="roundRect">
            <a:avLst>
              <a:gd name="adj" fmla="val 44444"/>
            </a:avLst>
          </a:prstGeom>
          <a:solidFill>
            <a:srgbClr val="A575E8">
              <a:alpha val="47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782550" y="2133600"/>
            <a:ext cx="228600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3096875" y="2133600"/>
            <a:ext cx="72390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3906500" y="2133600"/>
            <a:ext cx="3048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4297025" y="2133600"/>
            <a:ext cx="6191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5001875" y="2133600"/>
            <a:ext cx="72390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2573000" y="2343150"/>
            <a:ext cx="990600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3649325" y="2343150"/>
            <a:ext cx="2476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3982700" y="2343150"/>
            <a:ext cx="828675" cy="85725"/>
          </a:xfrm>
          <a:prstGeom prst="roundRect">
            <a:avLst>
              <a:gd name="adj" fmla="val 44444"/>
            </a:avLst>
          </a:prstGeom>
          <a:solidFill>
            <a:srgbClr val="A575E8">
              <a:alpha val="47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4897100" y="2343150"/>
            <a:ext cx="7905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5773400" y="2343150"/>
            <a:ext cx="419100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2573000" y="2552700"/>
            <a:ext cx="2952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2954000" y="2552700"/>
            <a:ext cx="685800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3201650" y="2762250"/>
            <a:ext cx="6477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3935075" y="2762250"/>
            <a:ext cx="466725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2573000" y="2971800"/>
            <a:ext cx="419100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3077825" y="2971800"/>
            <a:ext cx="9048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4068425" y="2971800"/>
            <a:ext cx="3619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2992100" y="3181350"/>
            <a:ext cx="5715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3649325" y="3181350"/>
            <a:ext cx="63817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2573000" y="3390900"/>
            <a:ext cx="609600" cy="85725"/>
          </a:xfrm>
          <a:prstGeom prst="roundRect">
            <a:avLst>
              <a:gd name="adj" fmla="val 44444"/>
            </a:avLst>
          </a:prstGeom>
          <a:solidFill>
            <a:srgbClr val="A575E8">
              <a:alpha val="47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3268325" y="3390900"/>
            <a:ext cx="5143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3868400" y="3390900"/>
            <a:ext cx="838200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4792325" y="3390900"/>
            <a:ext cx="457200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5335250" y="33909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2573000" y="3600450"/>
            <a:ext cx="381000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3039725" y="3600450"/>
            <a:ext cx="247650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2782550" y="3810000"/>
            <a:ext cx="6858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3554075" y="3810000"/>
            <a:ext cx="676275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4316075" y="3810000"/>
            <a:ext cx="3238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2992100" y="4019550"/>
            <a:ext cx="1000125" cy="85725"/>
          </a:xfrm>
          <a:prstGeom prst="roundRect">
            <a:avLst>
              <a:gd name="adj" fmla="val 44444"/>
            </a:avLst>
          </a:prstGeom>
          <a:solidFill>
            <a:srgbClr val="A575E8">
              <a:alpha val="47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4077950" y="4019550"/>
            <a:ext cx="6191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4782800" y="4019550"/>
            <a:ext cx="98107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82550" y="4229100"/>
            <a:ext cx="8953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3763625" y="4229100"/>
            <a:ext cx="6953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4544675" y="4229100"/>
            <a:ext cx="771525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5401925" y="4229100"/>
            <a:ext cx="6000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2192000" y="0"/>
            <a:ext cx="6096000" cy="10287000"/>
          </a:xfrm>
          <a:prstGeom prst="rect">
            <a:avLst/>
          </a:prstGeom>
          <a:gradFill rotWithShape="1">
            <a:gsLst>
              <a:gs pos="0">
                <a:srgbClr val="171A26">
                  <a:alpha val="100000"/>
                </a:srgbClr>
              </a:gs>
              <a:gs pos="45000">
                <a:srgbClr val="171A26">
                  <a:alpha val="0"/>
                </a:srgbClr>
              </a:gs>
            </a:gsLst>
            <a:lin ang="0" scaled="0"/>
          </a:gradFill>
          <a:ln/>
        </p:spPr>
      </p:sp>
      <p:pic>
        <p:nvPicPr>
          <p:cNvPr id="7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38150"/>
            <a:ext cx="915114" cy="514350"/>
          </a:xfrm>
          <a:prstGeom prst="rect">
            <a:avLst/>
          </a:prstGeom>
        </p:spPr>
      </p:pic>
      <p:sp>
        <p:nvSpPr>
          <p:cNvPr id="75" name="Shape 72"/>
          <p:cNvSpPr/>
          <p:nvPr/>
        </p:nvSpPr>
        <p:spPr>
          <a:xfrm>
            <a:off x="1829514" y="523875"/>
            <a:ext cx="14288" cy="342900"/>
          </a:xfrm>
          <a:prstGeom prst="rect">
            <a:avLst/>
          </a:prstGeom>
          <a:solidFill>
            <a:srgbClr val="3A4056"/>
          </a:solidFill>
          <a:ln/>
        </p:spPr>
      </p:sp>
      <p:pic>
        <p:nvPicPr>
          <p:cNvPr id="7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02" y="552450"/>
            <a:ext cx="1373029" cy="285750"/>
          </a:xfrm>
          <a:prstGeom prst="rect">
            <a:avLst/>
          </a:prstGeom>
        </p:spPr>
      </p:pic>
      <p:sp>
        <p:nvSpPr>
          <p:cNvPr id="77" name="Shape 73"/>
          <p:cNvSpPr/>
          <p:nvPr/>
        </p:nvSpPr>
        <p:spPr>
          <a:xfrm>
            <a:off x="685800" y="1466850"/>
            <a:ext cx="85725" cy="85725"/>
          </a:xfrm>
          <a:prstGeom prst="ellipse">
            <a:avLst/>
          </a:prstGeom>
          <a:solidFill>
            <a:srgbClr val="F6931E"/>
          </a:solidFill>
          <a:ln/>
        </p:spPr>
      </p:sp>
      <p:sp>
        <p:nvSpPr>
          <p:cNvPr id="78" name="Shape 74"/>
          <p:cNvSpPr/>
          <p:nvPr/>
        </p:nvSpPr>
        <p:spPr>
          <a:xfrm>
            <a:off x="704850" y="1609725"/>
            <a:ext cx="47625" cy="1423749"/>
          </a:xfrm>
          <a:prstGeom prst="roundRect">
            <a:avLst>
              <a:gd name="adj" fmla="val 50000"/>
            </a:avLst>
          </a:prstGeom>
          <a:solidFill>
            <a:srgbClr val="F6931E"/>
          </a:solidFill>
          <a:ln/>
        </p:spPr>
      </p:sp>
      <p:sp>
        <p:nvSpPr>
          <p:cNvPr id="79" name="Text 75"/>
          <p:cNvSpPr/>
          <p:nvPr/>
        </p:nvSpPr>
        <p:spPr>
          <a:xfrm>
            <a:off x="1019175" y="1409700"/>
            <a:ext cx="104775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F693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 DE ÉXITO · AEROPUERTOS ARGENTINA</a:t>
            </a:r>
            <a:endParaRPr lang="en-US" sz="1125" dirty="0"/>
          </a:p>
        </p:txBody>
      </p:sp>
      <p:sp>
        <p:nvSpPr>
          <p:cNvPr id="80" name="Text 76"/>
          <p:cNvSpPr/>
          <p:nvPr/>
        </p:nvSpPr>
        <p:spPr>
          <a:xfrm>
            <a:off x="1019175" y="1699260"/>
            <a:ext cx="10477500" cy="652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2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oneHUB · Digital Workplace</a:t>
            </a:r>
            <a:endParaRPr lang="en-US" sz="4650" dirty="0"/>
          </a:p>
        </p:txBody>
      </p:sp>
      <p:sp>
        <p:nvSpPr>
          <p:cNvPr id="81" name="Text 77"/>
          <p:cNvSpPr/>
          <p:nvPr/>
        </p:nvSpPr>
        <p:spPr>
          <a:xfrm>
            <a:off x="1019175" y="2446734"/>
            <a:ext cx="981075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650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intranet moderna sobre Microsoft 365 que centraliza comunicación interna, contenido corporativo y accesos a aplicaciones para reforzar la cultura y el sentido de pertenencia.</a:t>
            </a:r>
            <a:endParaRPr lang="en-US" sz="1650" dirty="0"/>
          </a:p>
        </p:txBody>
      </p:sp>
      <p:sp>
        <p:nvSpPr>
          <p:cNvPr id="82" name="Shape 78"/>
          <p:cNvSpPr/>
          <p:nvPr/>
        </p:nvSpPr>
        <p:spPr>
          <a:xfrm>
            <a:off x="685800" y="3357324"/>
            <a:ext cx="7184707" cy="2514362"/>
          </a:xfrm>
          <a:prstGeom prst="roundRect">
            <a:avLst>
              <a:gd name="adj" fmla="val 6061"/>
            </a:avLst>
          </a:prstGeom>
          <a:solidFill>
            <a:srgbClr val="1F2333"/>
          </a:solidFill>
          <a:ln w="7620">
            <a:solidFill>
              <a:srgbClr val="2C3145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979170" y="3612594"/>
            <a:ext cx="725776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 desafío</a:t>
            </a:r>
            <a:endParaRPr lang="en-US" sz="1650" dirty="0"/>
          </a:p>
        </p:txBody>
      </p:sp>
      <p:sp>
        <p:nvSpPr>
          <p:cNvPr id="84" name="Shape 80"/>
          <p:cNvSpPr/>
          <p:nvPr/>
        </p:nvSpPr>
        <p:spPr>
          <a:xfrm>
            <a:off x="979170" y="4058364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6931E">
              <a:alpha val="14000"/>
            </a:srgbClr>
          </a:solidFill>
          <a:ln/>
        </p:spPr>
      </p:sp>
      <p:sp>
        <p:nvSpPr>
          <p:cNvPr id="85" name="Text 81"/>
          <p:cNvSpPr/>
          <p:nvPr/>
        </p:nvSpPr>
        <p:spPr>
          <a:xfrm>
            <a:off x="941070" y="4058364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01</a:t>
            </a:r>
            <a:endParaRPr lang="en-US" sz="1200" dirty="0"/>
          </a:p>
        </p:txBody>
      </p:sp>
      <p:sp>
        <p:nvSpPr>
          <p:cNvPr id="86" name="Text 82"/>
          <p:cNvSpPr/>
          <p:nvPr/>
        </p:nvSpPr>
        <p:spPr>
          <a:xfrm>
            <a:off x="1436370" y="4058364"/>
            <a:ext cx="5582281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4F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Información dispersa</a:t>
            </a:r>
            <a:endParaRPr lang="en-US" sz="1350" dirty="0"/>
          </a:p>
        </p:txBody>
      </p:sp>
      <p:sp>
        <p:nvSpPr>
          <p:cNvPr id="87" name="Text 83"/>
          <p:cNvSpPr/>
          <p:nvPr/>
        </p:nvSpPr>
        <p:spPr>
          <a:xfrm>
            <a:off x="1436370" y="4283155"/>
            <a:ext cx="5582281" cy="237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23"/>
              </a:lnSpc>
              <a:buNone/>
            </a:pPr>
            <a:r>
              <a:rPr lang="en-US" sz="1163" dirty="0">
                <a:solidFill>
                  <a:srgbClr val="9AA0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Beneficios e información en múltiples sistemas externos, difíciles de acceder.</a:t>
            </a:r>
            <a:endParaRPr lang="en-US" sz="1163" dirty="0"/>
          </a:p>
        </p:txBody>
      </p:sp>
      <p:sp>
        <p:nvSpPr>
          <p:cNvPr id="88" name="Shape 84"/>
          <p:cNvSpPr/>
          <p:nvPr/>
        </p:nvSpPr>
        <p:spPr>
          <a:xfrm>
            <a:off x="979170" y="462534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6931E">
              <a:alpha val="14000"/>
            </a:srgbClr>
          </a:solidFill>
          <a:ln/>
        </p:spPr>
      </p:sp>
      <p:sp>
        <p:nvSpPr>
          <p:cNvPr id="89" name="Text 85"/>
          <p:cNvSpPr/>
          <p:nvPr/>
        </p:nvSpPr>
        <p:spPr>
          <a:xfrm>
            <a:off x="941070" y="462534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02</a:t>
            </a:r>
            <a:endParaRPr lang="en-US" sz="1200" dirty="0"/>
          </a:p>
        </p:txBody>
      </p:sp>
      <p:sp>
        <p:nvSpPr>
          <p:cNvPr id="90" name="Text 86"/>
          <p:cNvSpPr/>
          <p:nvPr/>
        </p:nvSpPr>
        <p:spPr>
          <a:xfrm>
            <a:off x="1436370" y="4625340"/>
            <a:ext cx="415760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4F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Contenido y apps sin unificar</a:t>
            </a:r>
            <a:endParaRPr lang="en-US" sz="1350" dirty="0"/>
          </a:p>
        </p:txBody>
      </p:sp>
      <p:sp>
        <p:nvSpPr>
          <p:cNvPr id="91" name="Text 87"/>
          <p:cNvSpPr/>
          <p:nvPr/>
        </p:nvSpPr>
        <p:spPr>
          <a:xfrm>
            <a:off x="1436370" y="4850130"/>
            <a:ext cx="4157603" cy="237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23"/>
              </a:lnSpc>
              <a:buNone/>
            </a:pPr>
            <a:r>
              <a:rPr lang="en-US" sz="1163" dirty="0">
                <a:solidFill>
                  <a:srgbClr val="9AA0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un único punto de acceso a herramientas y contenido.</a:t>
            </a:r>
            <a:endParaRPr lang="en-US" sz="1163" dirty="0"/>
          </a:p>
        </p:txBody>
      </p:sp>
      <p:sp>
        <p:nvSpPr>
          <p:cNvPr id="92" name="Shape 88"/>
          <p:cNvSpPr/>
          <p:nvPr/>
        </p:nvSpPr>
        <p:spPr>
          <a:xfrm>
            <a:off x="979170" y="5192316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6931E">
              <a:alpha val="14000"/>
            </a:srgbClr>
          </a:solidFill>
          <a:ln/>
        </p:spPr>
      </p:sp>
      <p:sp>
        <p:nvSpPr>
          <p:cNvPr id="93" name="Text 89"/>
          <p:cNvSpPr/>
          <p:nvPr/>
        </p:nvSpPr>
        <p:spPr>
          <a:xfrm>
            <a:off x="941070" y="5192316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03</a:t>
            </a:r>
            <a:endParaRPr lang="en-US" sz="1200" dirty="0"/>
          </a:p>
        </p:txBody>
      </p:sp>
      <p:sp>
        <p:nvSpPr>
          <p:cNvPr id="94" name="Text 90"/>
          <p:cNvSpPr/>
          <p:nvPr/>
        </p:nvSpPr>
        <p:spPr>
          <a:xfrm>
            <a:off x="1436370" y="5192316"/>
            <a:ext cx="373378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4F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Cultura y participación</a:t>
            </a:r>
            <a:endParaRPr lang="en-US" sz="1350" dirty="0"/>
          </a:p>
        </p:txBody>
      </p:sp>
      <p:sp>
        <p:nvSpPr>
          <p:cNvPr id="95" name="Text 91"/>
          <p:cNvSpPr/>
          <p:nvPr/>
        </p:nvSpPr>
        <p:spPr>
          <a:xfrm>
            <a:off x="1436370" y="5417106"/>
            <a:ext cx="3733788" cy="237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23"/>
              </a:lnSpc>
              <a:buNone/>
            </a:pPr>
            <a:r>
              <a:rPr lang="en-US" sz="1163" dirty="0">
                <a:solidFill>
                  <a:srgbClr val="9AA0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Reforzar misión y valores y activar a los empleados.</a:t>
            </a:r>
            <a:endParaRPr lang="en-US" sz="1163" dirty="0"/>
          </a:p>
        </p:txBody>
      </p:sp>
      <p:sp>
        <p:nvSpPr>
          <p:cNvPr id="96" name="Shape 92"/>
          <p:cNvSpPr/>
          <p:nvPr/>
        </p:nvSpPr>
        <p:spPr>
          <a:xfrm>
            <a:off x="8118157" y="3357324"/>
            <a:ext cx="9484043" cy="2514362"/>
          </a:xfrm>
          <a:prstGeom prst="roundRect">
            <a:avLst>
              <a:gd name="adj" fmla="val 6061"/>
            </a:avLst>
          </a:prstGeom>
          <a:gradFill rotWithShape="1">
            <a:gsLst>
              <a:gs pos="0">
                <a:srgbClr val="241F2E">
                  <a:alpha val="100000"/>
                </a:srgbClr>
              </a:gs>
              <a:gs pos="60000">
                <a:srgbClr val="1F2333">
                  <a:alpha val="100000"/>
                </a:srgbClr>
              </a:gs>
            </a:gsLst>
            <a:lin ang="2700000" scaled="0"/>
          </a:gradFill>
          <a:ln w="7620">
            <a:solidFill>
              <a:srgbClr val="3A2F2A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16261081" y="2793444"/>
            <a:ext cx="1905000" cy="1905000"/>
          </a:xfrm>
          <a:prstGeom prst="ellipse">
            <a:avLst/>
          </a:prstGeom>
          <a:gradFill rotWithShape="1">
            <a:gsLst>
              <a:gs pos="0">
                <a:srgbClr val="F6931E">
                  <a:alpha val="28000"/>
                </a:srgbClr>
              </a:gs>
              <a:gs pos="70000">
                <a:srgbClr val="F6931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98" name="Text 94"/>
          <p:cNvSpPr/>
          <p:nvPr/>
        </p:nvSpPr>
        <p:spPr>
          <a:xfrm>
            <a:off x="8430578" y="3612594"/>
            <a:ext cx="974512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 solución</a:t>
            </a:r>
            <a:endParaRPr lang="en-US" sz="1650" dirty="0"/>
          </a:p>
        </p:txBody>
      </p:sp>
      <p:sp>
        <p:nvSpPr>
          <p:cNvPr id="99" name="Text 95"/>
          <p:cNvSpPr/>
          <p:nvPr/>
        </p:nvSpPr>
        <p:spPr>
          <a:xfrm>
            <a:off x="8430578" y="4001214"/>
            <a:ext cx="716184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C2C6D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Construido sobre </a:t>
            </a:r>
            <a:pPr algn="l" indent="0" marL="0">
              <a:lnSpc>
                <a:spcPct val="123750"/>
              </a:lnSpc>
              <a:buNone/>
            </a:pPr>
            <a:r>
              <a:rPr lang="en-US" sz="1238" b="1" dirty="0">
                <a:solidFill>
                  <a:srgbClr val="F693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Workplace by Raona </a:t>
            </a:r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C2C6D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tres aceleradores, un portal del empleado personalizado, comunicación dual y un centro de aplicaciones con accesos directos.</a:t>
            </a:r>
            <a:endParaRPr lang="en-US" sz="1238" dirty="0"/>
          </a:p>
        </p:txBody>
      </p:sp>
      <p:sp>
        <p:nvSpPr>
          <p:cNvPr id="100" name="Shape 96"/>
          <p:cNvSpPr/>
          <p:nvPr/>
        </p:nvSpPr>
        <p:spPr>
          <a:xfrm>
            <a:off x="8430578" y="4702255"/>
            <a:ext cx="66675" cy="66675"/>
          </a:xfrm>
          <a:prstGeom prst="ellipse">
            <a:avLst/>
          </a:prstGeom>
          <a:solidFill>
            <a:srgbClr val="35C4D6"/>
          </a:solidFill>
          <a:ln/>
        </p:spPr>
      </p:sp>
      <p:sp>
        <p:nvSpPr>
          <p:cNvPr id="101" name="Text 97"/>
          <p:cNvSpPr/>
          <p:nvPr/>
        </p:nvSpPr>
        <p:spPr>
          <a:xfrm>
            <a:off x="8602028" y="4644152"/>
            <a:ext cx="262106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Communication Hub con estadísticas</a:t>
            </a:r>
            <a:endParaRPr lang="en-US" sz="1200" dirty="0"/>
          </a:p>
        </p:txBody>
      </p:sp>
      <p:sp>
        <p:nvSpPr>
          <p:cNvPr id="102" name="Shape 98"/>
          <p:cNvSpPr/>
          <p:nvPr/>
        </p:nvSpPr>
        <p:spPr>
          <a:xfrm>
            <a:off x="12964954" y="4702255"/>
            <a:ext cx="66675" cy="66675"/>
          </a:xfrm>
          <a:prstGeom prst="ellipse">
            <a:avLst/>
          </a:prstGeom>
          <a:solidFill>
            <a:srgbClr val="4CAF6D"/>
          </a:solidFill>
          <a:ln/>
        </p:spPr>
      </p:sp>
      <p:sp>
        <p:nvSpPr>
          <p:cNvPr id="103" name="Text 99"/>
          <p:cNvSpPr/>
          <p:nvPr/>
        </p:nvSpPr>
        <p:spPr>
          <a:xfrm>
            <a:off x="13136404" y="4644152"/>
            <a:ext cx="278281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Intranet (usabilidad SharePoint)</a:t>
            </a:r>
            <a:endParaRPr lang="en-US" sz="1200" dirty="0"/>
          </a:p>
        </p:txBody>
      </p:sp>
      <p:sp>
        <p:nvSpPr>
          <p:cNvPr id="104" name="Shape 100"/>
          <p:cNvSpPr/>
          <p:nvPr/>
        </p:nvSpPr>
        <p:spPr>
          <a:xfrm>
            <a:off x="8430578" y="4989909"/>
            <a:ext cx="66675" cy="66675"/>
          </a:xfrm>
          <a:prstGeom prst="ellipse">
            <a:avLst/>
          </a:prstGeom>
          <a:solidFill>
            <a:srgbClr val="E85B9E"/>
          </a:solidFill>
          <a:ln/>
        </p:spPr>
      </p:sp>
      <p:sp>
        <p:nvSpPr>
          <p:cNvPr id="105" name="Text 101"/>
          <p:cNvSpPr/>
          <p:nvPr/>
        </p:nvSpPr>
        <p:spPr>
          <a:xfrm>
            <a:off x="8602028" y="4931807"/>
            <a:ext cx="229397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Aceleradores para Microsoft 365</a:t>
            </a:r>
            <a:endParaRPr lang="en-US" sz="1200" dirty="0"/>
          </a:p>
        </p:txBody>
      </p:sp>
      <p:sp>
        <p:nvSpPr>
          <p:cNvPr id="106" name="Shape 102"/>
          <p:cNvSpPr/>
          <p:nvPr/>
        </p:nvSpPr>
        <p:spPr>
          <a:xfrm>
            <a:off x="12964954" y="4989909"/>
            <a:ext cx="66675" cy="66675"/>
          </a:xfrm>
          <a:prstGeom prst="ellipse">
            <a:avLst/>
          </a:prstGeom>
          <a:solidFill>
            <a:srgbClr val="F6931E"/>
          </a:solidFill>
          <a:ln/>
        </p:spPr>
      </p:sp>
      <p:sp>
        <p:nvSpPr>
          <p:cNvPr id="107" name="Text 103"/>
          <p:cNvSpPr/>
          <p:nvPr/>
        </p:nvSpPr>
        <p:spPr>
          <a:xfrm>
            <a:off x="13136404" y="4931807"/>
            <a:ext cx="243054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Portal del empleado personalizado</a:t>
            </a:r>
            <a:endParaRPr lang="en-US" sz="1200" dirty="0"/>
          </a:p>
        </p:txBody>
      </p:sp>
      <p:sp>
        <p:nvSpPr>
          <p:cNvPr id="108" name="Shape 104"/>
          <p:cNvSpPr/>
          <p:nvPr/>
        </p:nvSpPr>
        <p:spPr>
          <a:xfrm>
            <a:off x="8430578" y="5277564"/>
            <a:ext cx="66675" cy="66675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09" name="Text 105"/>
          <p:cNvSpPr/>
          <p:nvPr/>
        </p:nvSpPr>
        <p:spPr>
          <a:xfrm>
            <a:off x="8602028" y="5219462"/>
            <a:ext cx="227909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Board corporativo + Viva Engage</a:t>
            </a:r>
            <a:endParaRPr lang="en-US" sz="1200" dirty="0"/>
          </a:p>
        </p:txBody>
      </p:sp>
      <p:sp>
        <p:nvSpPr>
          <p:cNvPr id="110" name="Shape 106"/>
          <p:cNvSpPr/>
          <p:nvPr/>
        </p:nvSpPr>
        <p:spPr>
          <a:xfrm>
            <a:off x="12964954" y="5277564"/>
            <a:ext cx="66675" cy="66675"/>
          </a:xfrm>
          <a:prstGeom prst="ellipse">
            <a:avLst/>
          </a:prstGeom>
          <a:solidFill>
            <a:srgbClr val="A575E8"/>
          </a:solidFill>
          <a:ln/>
        </p:spPr>
      </p:sp>
      <p:sp>
        <p:nvSpPr>
          <p:cNvPr id="111" name="Text 107"/>
          <p:cNvSpPr/>
          <p:nvPr/>
        </p:nvSpPr>
        <p:spPr>
          <a:xfrm>
            <a:off x="13136404" y="5219462"/>
            <a:ext cx="233755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Centro de aplicaciones y accesos</a:t>
            </a:r>
            <a:endParaRPr lang="en-US" sz="1200" dirty="0"/>
          </a:p>
        </p:txBody>
      </p:sp>
      <p:sp>
        <p:nvSpPr>
          <p:cNvPr id="112" name="Text 108"/>
          <p:cNvSpPr/>
          <p:nvPr/>
        </p:nvSpPr>
        <p:spPr>
          <a:xfrm>
            <a:off x="685800" y="6157436"/>
            <a:ext cx="18608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8B90A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RESULTADOS CONSEGUIDOS</a:t>
            </a:r>
            <a:endParaRPr lang="en-US" sz="975" dirty="0"/>
          </a:p>
        </p:txBody>
      </p:sp>
      <p:sp>
        <p:nvSpPr>
          <p:cNvPr id="113" name="Shape 109"/>
          <p:cNvSpPr/>
          <p:nvPr/>
        </p:nvSpPr>
        <p:spPr>
          <a:xfrm>
            <a:off x="685800" y="6435566"/>
            <a:ext cx="4071938" cy="22860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14" name="Text 110"/>
          <p:cNvSpPr/>
          <p:nvPr/>
        </p:nvSpPr>
        <p:spPr>
          <a:xfrm>
            <a:off x="685800" y="6591776"/>
            <a:ext cx="44791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87"/>
              </a:lnSpc>
              <a:buNone/>
            </a:pPr>
            <a:r>
              <a:rPr lang="en-US" sz="4200" b="1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2.800</a:t>
            </a:r>
            <a:endParaRPr lang="en-US" sz="4200" dirty="0"/>
          </a:p>
        </p:txBody>
      </p:sp>
      <p:sp>
        <p:nvSpPr>
          <p:cNvPr id="115" name="Text 111"/>
          <p:cNvSpPr/>
          <p:nvPr/>
        </p:nvSpPr>
        <p:spPr>
          <a:xfrm>
            <a:off x="685800" y="7201376"/>
            <a:ext cx="447913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200" b="1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empleados conectados en 35 terminales</a:t>
            </a:r>
            <a:endParaRPr lang="en-US" sz="1200" dirty="0"/>
          </a:p>
        </p:txBody>
      </p:sp>
      <p:sp>
        <p:nvSpPr>
          <p:cNvPr id="116" name="Shape 112"/>
          <p:cNvSpPr/>
          <p:nvPr/>
        </p:nvSpPr>
        <p:spPr>
          <a:xfrm>
            <a:off x="4967288" y="6435566"/>
            <a:ext cx="4071938" cy="22860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17" name="Text 113"/>
          <p:cNvSpPr/>
          <p:nvPr/>
        </p:nvSpPr>
        <p:spPr>
          <a:xfrm>
            <a:off x="4967288" y="6591776"/>
            <a:ext cx="44791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87"/>
              </a:lnSpc>
              <a:buNone/>
            </a:pPr>
            <a:r>
              <a:rPr lang="en-US" sz="4200" b="1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15</a:t>
            </a:r>
            <a:endParaRPr lang="en-US" sz="4200" dirty="0"/>
          </a:p>
        </p:txBody>
      </p:sp>
      <p:sp>
        <p:nvSpPr>
          <p:cNvPr id="118" name="Text 114"/>
          <p:cNvSpPr/>
          <p:nvPr/>
        </p:nvSpPr>
        <p:spPr>
          <a:xfrm>
            <a:off x="4967288" y="7201376"/>
            <a:ext cx="447913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200" b="1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herramientas externas integradas</a:t>
            </a:r>
            <a:endParaRPr lang="en-US" sz="1200" dirty="0"/>
          </a:p>
        </p:txBody>
      </p:sp>
      <p:sp>
        <p:nvSpPr>
          <p:cNvPr id="119" name="Shape 115"/>
          <p:cNvSpPr/>
          <p:nvPr/>
        </p:nvSpPr>
        <p:spPr>
          <a:xfrm>
            <a:off x="9248775" y="6435566"/>
            <a:ext cx="4071938" cy="22860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20" name="Text 116"/>
          <p:cNvSpPr/>
          <p:nvPr/>
        </p:nvSpPr>
        <p:spPr>
          <a:xfrm>
            <a:off x="9248775" y="6591776"/>
            <a:ext cx="44791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87"/>
              </a:lnSpc>
              <a:buNone/>
            </a:pPr>
            <a:r>
              <a:rPr lang="en-US" sz="4200" b="1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11</a:t>
            </a:r>
            <a:endParaRPr lang="en-US" sz="4200" dirty="0"/>
          </a:p>
        </p:txBody>
      </p:sp>
      <p:sp>
        <p:nvSpPr>
          <p:cNvPr id="121" name="Text 117"/>
          <p:cNvSpPr/>
          <p:nvPr/>
        </p:nvSpPr>
        <p:spPr>
          <a:xfrm>
            <a:off x="9248775" y="7201376"/>
            <a:ext cx="447913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200" b="1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comunidades creadas en Viva Engage</a:t>
            </a:r>
            <a:endParaRPr lang="en-US" sz="1200" dirty="0"/>
          </a:p>
        </p:txBody>
      </p:sp>
      <p:sp>
        <p:nvSpPr>
          <p:cNvPr id="122" name="Shape 118"/>
          <p:cNvSpPr/>
          <p:nvPr/>
        </p:nvSpPr>
        <p:spPr>
          <a:xfrm>
            <a:off x="13530263" y="6435566"/>
            <a:ext cx="4071938" cy="22860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23" name="Text 119"/>
          <p:cNvSpPr/>
          <p:nvPr/>
        </p:nvSpPr>
        <p:spPr>
          <a:xfrm>
            <a:off x="13530263" y="6591776"/>
            <a:ext cx="44791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87"/>
              </a:lnSpc>
              <a:buNone/>
            </a:pPr>
            <a:r>
              <a:rPr lang="en-US" sz="4200" b="1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40</a:t>
            </a:r>
            <a:endParaRPr lang="en-US" sz="4200" dirty="0"/>
          </a:p>
        </p:txBody>
      </p:sp>
      <p:sp>
        <p:nvSpPr>
          <p:cNvPr id="124" name="Text 120"/>
          <p:cNvSpPr/>
          <p:nvPr/>
        </p:nvSpPr>
        <p:spPr>
          <a:xfrm>
            <a:off x="13530263" y="7201376"/>
            <a:ext cx="447913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200" b="1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ofertas de trabajo publicadas</a:t>
            </a:r>
            <a:endParaRPr lang="en-US" sz="1200" dirty="0"/>
          </a:p>
        </p:txBody>
      </p:sp>
      <p:sp>
        <p:nvSpPr>
          <p:cNvPr id="125" name="Shape 121"/>
          <p:cNvSpPr/>
          <p:nvPr/>
        </p:nvSpPr>
        <p:spPr>
          <a:xfrm>
            <a:off x="685800" y="8600123"/>
            <a:ext cx="38100" cy="772477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26" name="Text 122"/>
          <p:cNvSpPr/>
          <p:nvPr/>
        </p:nvSpPr>
        <p:spPr>
          <a:xfrm>
            <a:off x="933450" y="8847773"/>
            <a:ext cx="12212668" cy="562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89"/>
              </a:lnSpc>
              <a:buNone/>
            </a:pPr>
            <a:r>
              <a:rPr lang="en-US" sz="1425" i="1" dirty="0">
                <a:solidFill>
                  <a:srgbClr val="E6E8F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"El grupo dio un salto cualitativo con un entorno más avanzado que mejora accesibilidad, colaboración y comunicación; Viva Engage potenció el canal de comunicación interna."</a:t>
            </a:r>
            <a:endParaRPr lang="en-US" sz="1425" dirty="0"/>
          </a:p>
        </p:txBody>
      </p:sp>
      <p:sp>
        <p:nvSpPr>
          <p:cNvPr id="127" name="Text 123"/>
          <p:cNvSpPr/>
          <p:nvPr/>
        </p:nvSpPr>
        <p:spPr>
          <a:xfrm>
            <a:off x="12518780" y="8925401"/>
            <a:ext cx="50834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Ezequiel Vera</a:t>
            </a:r>
            <a:endParaRPr lang="en-US" sz="1275" dirty="0"/>
          </a:p>
        </p:txBody>
      </p:sp>
      <p:sp>
        <p:nvSpPr>
          <p:cNvPr id="128" name="Text 124"/>
          <p:cNvSpPr/>
          <p:nvPr/>
        </p:nvSpPr>
        <p:spPr>
          <a:xfrm>
            <a:off x="12518780" y="9134951"/>
            <a:ext cx="508342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8B90A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Gerente de Comunicación y Experiencia del Empleado · Aeropuertos Argentina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2026-07-13T18:05:26Z</dcterms:created>
  <dcterms:modified xsi:type="dcterms:W3CDTF">2026-07-13T18:05:26Z</dcterms:modified>
</cp:coreProperties>
</file>