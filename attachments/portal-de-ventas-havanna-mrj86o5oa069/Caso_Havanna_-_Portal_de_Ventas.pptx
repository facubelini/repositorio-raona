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21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éxito Havanna: portal de ventas corporativo en SharePoint desarrollado por Raona. Repasar desafío, solución y los resultados conseguidos.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82550" y="2476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192125" y="2476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877925" y="2476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258925" y="247650"/>
            <a:ext cx="7334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782550" y="45720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658850" y="45720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392275" y="45720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78100" y="457200"/>
            <a:ext cx="704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068675" y="45720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201650" y="6667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611225" y="666750"/>
            <a:ext cx="1047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744700" y="666750"/>
            <a:ext cx="58102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411450" y="66675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97275" y="66675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82550" y="8763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563600" y="876300"/>
            <a:ext cx="3524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782550" y="10858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163550" y="1085850"/>
            <a:ext cx="4286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77900" y="1085850"/>
            <a:ext cx="628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992100" y="1295400"/>
            <a:ext cx="8763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954125" y="1295400"/>
            <a:ext cx="3429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82750" y="12954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573000" y="15049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468350" y="1504950"/>
            <a:ext cx="10382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592300" y="15049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782550" y="17145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477875" y="1714500"/>
            <a:ext cx="4476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011275" y="1714500"/>
            <a:ext cx="8572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954250" y="17145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497175" y="1714500"/>
            <a:ext cx="9620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201650" y="1924050"/>
            <a:ext cx="86677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154150" y="192405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35200" y="1924050"/>
            <a:ext cx="5048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5525750" y="1924050"/>
            <a:ext cx="4095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21050" y="19240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782550" y="2133600"/>
            <a:ext cx="2286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096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906500" y="2133600"/>
            <a:ext cx="304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297025" y="213360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001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573000" y="2343150"/>
            <a:ext cx="9906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649325" y="23431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982700" y="2343150"/>
            <a:ext cx="82867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897100" y="234315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5773400" y="234315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573000" y="255270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4000" y="25527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3201650" y="276225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3935075" y="2762250"/>
            <a:ext cx="46672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2573000" y="297180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3077825" y="2971800"/>
            <a:ext cx="9048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4068425" y="2971800"/>
            <a:ext cx="3619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992100" y="3181350"/>
            <a:ext cx="5715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3649325" y="3181350"/>
            <a:ext cx="6381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573000" y="33909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3268325" y="3390900"/>
            <a:ext cx="514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3868400" y="3390900"/>
            <a:ext cx="8382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4792325" y="33909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335250" y="33909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2573000" y="3600450"/>
            <a:ext cx="3810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039725" y="36004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782550" y="38100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3554075" y="3810000"/>
            <a:ext cx="6762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4316075" y="381000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2992100" y="4019550"/>
            <a:ext cx="10001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4077950" y="401955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4782800" y="4019550"/>
            <a:ext cx="9810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4229100"/>
            <a:ext cx="895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3763625" y="42291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4544675" y="4229100"/>
            <a:ext cx="7715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5401925" y="422910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2192000" y="0"/>
            <a:ext cx="6096000" cy="10287000"/>
          </a:xfrm>
          <a:prstGeom prst="rect">
            <a:avLst/>
          </a:prstGeom>
          <a:gradFill rotWithShape="1">
            <a:gsLst>
              <a:gs pos="0">
                <a:srgbClr val="171A26">
                  <a:alpha val="100000"/>
                </a:srgbClr>
              </a:gs>
              <a:gs pos="45000">
                <a:srgbClr val="171A26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7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8150"/>
            <a:ext cx="2162294" cy="381000"/>
          </a:xfrm>
          <a:prstGeom prst="rect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3076694" y="457200"/>
            <a:ext cx="14288" cy="342900"/>
          </a:xfrm>
          <a:prstGeom prst="rect">
            <a:avLst/>
          </a:prstGeom>
          <a:solidFill>
            <a:srgbClr val="3A4056"/>
          </a:solidFill>
          <a:ln/>
        </p:spPr>
      </p:sp>
      <p:pic>
        <p:nvPicPr>
          <p:cNvPr id="7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582" y="485775"/>
            <a:ext cx="1373029" cy="285750"/>
          </a:xfrm>
          <a:prstGeom prst="rect">
            <a:avLst/>
          </a:prstGeom>
        </p:spPr>
      </p:pic>
      <p:sp>
        <p:nvSpPr>
          <p:cNvPr id="77" name="Shape 73"/>
          <p:cNvSpPr/>
          <p:nvPr/>
        </p:nvSpPr>
        <p:spPr>
          <a:xfrm>
            <a:off x="685800" y="1466850"/>
            <a:ext cx="85725" cy="8572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78" name="Shape 74"/>
          <p:cNvSpPr/>
          <p:nvPr/>
        </p:nvSpPr>
        <p:spPr>
          <a:xfrm>
            <a:off x="704850" y="1609725"/>
            <a:ext cx="47625" cy="1423749"/>
          </a:xfrm>
          <a:prstGeom prst="roundRect">
            <a:avLst>
              <a:gd name="adj" fmla="val 50000"/>
            </a:avLst>
          </a:prstGeom>
          <a:solidFill>
            <a:srgbClr val="F6931E"/>
          </a:solidFill>
          <a:ln/>
        </p:spPr>
      </p:sp>
      <p:sp>
        <p:nvSpPr>
          <p:cNvPr id="79" name="Text 75"/>
          <p:cNvSpPr/>
          <p:nvPr/>
        </p:nvSpPr>
        <p:spPr>
          <a:xfrm>
            <a:off x="1019175" y="1409700"/>
            <a:ext cx="104775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HAVANNA</a:t>
            </a:r>
            <a:endParaRPr lang="en-US" sz="1125" dirty="0"/>
          </a:p>
        </p:txBody>
      </p:sp>
      <p:sp>
        <p:nvSpPr>
          <p:cNvPr id="80" name="Text 76"/>
          <p:cNvSpPr/>
          <p:nvPr/>
        </p:nvSpPr>
        <p:spPr>
          <a:xfrm>
            <a:off x="1019175" y="1699260"/>
            <a:ext cx="10477500" cy="65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2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Portal de Ventas Corporativo</a:t>
            </a:r>
            <a:endParaRPr lang="en-US" sz="4650" dirty="0"/>
          </a:p>
        </p:txBody>
      </p:sp>
      <p:sp>
        <p:nvSpPr>
          <p:cNvPr id="81" name="Text 77"/>
          <p:cNvSpPr/>
          <p:nvPr/>
        </p:nvSpPr>
        <p:spPr>
          <a:xfrm>
            <a:off x="1019175" y="2446734"/>
            <a:ext cx="981075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650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portal único basado en SharePoint que centraliza la información, automatiza procesos y ordena la gestión comercial diaria de los equipos de Havanna.</a:t>
            </a:r>
            <a:endParaRPr lang="en-US" sz="1650" dirty="0"/>
          </a:p>
        </p:txBody>
      </p:sp>
      <p:sp>
        <p:nvSpPr>
          <p:cNvPr id="82" name="Shape 78"/>
          <p:cNvSpPr/>
          <p:nvPr/>
        </p:nvSpPr>
        <p:spPr>
          <a:xfrm>
            <a:off x="685800" y="3357324"/>
            <a:ext cx="7184707" cy="2514362"/>
          </a:xfrm>
          <a:prstGeom prst="roundRect">
            <a:avLst>
              <a:gd name="adj" fmla="val 6061"/>
            </a:avLst>
          </a:prstGeom>
          <a:solidFill>
            <a:srgbClr val="1F2333"/>
          </a:solidFill>
          <a:ln w="7620">
            <a:solidFill>
              <a:srgbClr val="2C3145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9170" y="3612594"/>
            <a:ext cx="725776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desafío</a:t>
            </a:r>
            <a:endParaRPr lang="en-US" sz="1650" dirty="0"/>
          </a:p>
        </p:txBody>
      </p:sp>
      <p:sp>
        <p:nvSpPr>
          <p:cNvPr id="84" name="Shape 80"/>
          <p:cNvSpPr/>
          <p:nvPr/>
        </p:nvSpPr>
        <p:spPr>
          <a:xfrm>
            <a:off x="979170" y="4058364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85" name="Text 81"/>
          <p:cNvSpPr/>
          <p:nvPr/>
        </p:nvSpPr>
        <p:spPr>
          <a:xfrm>
            <a:off x="941070" y="405836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</a:t>
            </a:r>
            <a:endParaRPr lang="en-US" sz="1200" dirty="0"/>
          </a:p>
        </p:txBody>
      </p:sp>
      <p:sp>
        <p:nvSpPr>
          <p:cNvPr id="86" name="Text 82"/>
          <p:cNvSpPr/>
          <p:nvPr/>
        </p:nvSpPr>
        <p:spPr>
          <a:xfrm>
            <a:off x="1436370" y="4058364"/>
            <a:ext cx="288026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Procesos manuales lentos</a:t>
            </a:r>
            <a:endParaRPr lang="en-US" sz="1350" dirty="0"/>
          </a:p>
        </p:txBody>
      </p:sp>
      <p:sp>
        <p:nvSpPr>
          <p:cNvPr id="87" name="Text 83"/>
          <p:cNvSpPr/>
          <p:nvPr/>
        </p:nvSpPr>
        <p:spPr>
          <a:xfrm>
            <a:off x="1436370" y="4283155"/>
            <a:ext cx="2880265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Consumían tiempo y generaban errores.</a:t>
            </a:r>
            <a:endParaRPr lang="en-US" sz="1163" dirty="0"/>
          </a:p>
        </p:txBody>
      </p:sp>
      <p:sp>
        <p:nvSpPr>
          <p:cNvPr id="88" name="Shape 84"/>
          <p:cNvSpPr/>
          <p:nvPr/>
        </p:nvSpPr>
        <p:spPr>
          <a:xfrm>
            <a:off x="979170" y="462534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89" name="Text 85"/>
          <p:cNvSpPr/>
          <p:nvPr/>
        </p:nvSpPr>
        <p:spPr>
          <a:xfrm>
            <a:off x="941070" y="46253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</a:t>
            </a:r>
            <a:endParaRPr lang="en-US" sz="1200" dirty="0"/>
          </a:p>
        </p:txBody>
      </p:sp>
      <p:sp>
        <p:nvSpPr>
          <p:cNvPr id="90" name="Text 86"/>
          <p:cNvSpPr/>
          <p:nvPr/>
        </p:nvSpPr>
        <p:spPr>
          <a:xfrm>
            <a:off x="1436370" y="4625340"/>
            <a:ext cx="367341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dispersa</a:t>
            </a:r>
            <a:endParaRPr lang="en-US" sz="1350" dirty="0"/>
          </a:p>
        </p:txBody>
      </p:sp>
      <p:sp>
        <p:nvSpPr>
          <p:cNvPr id="91" name="Text 87"/>
          <p:cNvSpPr/>
          <p:nvPr/>
        </p:nvSpPr>
        <p:spPr>
          <a:xfrm>
            <a:off x="1436370" y="4850130"/>
            <a:ext cx="3673412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de clientes repartidos en varias plataformas.</a:t>
            </a:r>
            <a:endParaRPr lang="en-US" sz="1163" dirty="0"/>
          </a:p>
        </p:txBody>
      </p:sp>
      <p:sp>
        <p:nvSpPr>
          <p:cNvPr id="92" name="Shape 88"/>
          <p:cNvSpPr/>
          <p:nvPr/>
        </p:nvSpPr>
        <p:spPr>
          <a:xfrm>
            <a:off x="979170" y="5192316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93" name="Text 89"/>
          <p:cNvSpPr/>
          <p:nvPr/>
        </p:nvSpPr>
        <p:spPr>
          <a:xfrm>
            <a:off x="941070" y="519231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</a:t>
            </a:r>
            <a:endParaRPr lang="en-US" sz="1200" dirty="0"/>
          </a:p>
        </p:txBody>
      </p:sp>
      <p:sp>
        <p:nvSpPr>
          <p:cNvPr id="94" name="Text 90"/>
          <p:cNvSpPr/>
          <p:nvPr/>
        </p:nvSpPr>
        <p:spPr>
          <a:xfrm>
            <a:off x="1436370" y="5192316"/>
            <a:ext cx="375985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Documentos desordenados</a:t>
            </a:r>
            <a:endParaRPr lang="en-US" sz="1350" dirty="0"/>
          </a:p>
        </p:txBody>
      </p:sp>
      <p:sp>
        <p:nvSpPr>
          <p:cNvPr id="95" name="Text 91"/>
          <p:cNvSpPr/>
          <p:nvPr/>
        </p:nvSpPr>
        <p:spPr>
          <a:xfrm>
            <a:off x="1436370" y="5417106"/>
            <a:ext cx="3759851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estructura clara, difíciles de acceder y compartir.</a:t>
            </a:r>
            <a:endParaRPr lang="en-US" sz="1163" dirty="0"/>
          </a:p>
        </p:txBody>
      </p:sp>
      <p:sp>
        <p:nvSpPr>
          <p:cNvPr id="96" name="Shape 92"/>
          <p:cNvSpPr/>
          <p:nvPr/>
        </p:nvSpPr>
        <p:spPr>
          <a:xfrm>
            <a:off x="8118157" y="3357324"/>
            <a:ext cx="9484043" cy="2514362"/>
          </a:xfrm>
          <a:prstGeom prst="roundRect">
            <a:avLst>
              <a:gd name="adj" fmla="val 6061"/>
            </a:avLst>
          </a:prstGeom>
          <a:gradFill rotWithShape="1">
            <a:gsLst>
              <a:gs pos="0">
                <a:srgbClr val="241F2E">
                  <a:alpha val="100000"/>
                </a:srgbClr>
              </a:gs>
              <a:gs pos="60000">
                <a:srgbClr val="1F2333">
                  <a:alpha val="100000"/>
                </a:srgbClr>
              </a:gs>
            </a:gsLst>
            <a:lin ang="2700000" scaled="0"/>
          </a:gradFill>
          <a:ln w="7620">
            <a:solidFill>
              <a:srgbClr val="3A2F2A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6261081" y="2793444"/>
            <a:ext cx="1905000" cy="1905000"/>
          </a:xfrm>
          <a:prstGeom prst="ellipse">
            <a:avLst/>
          </a:prstGeom>
          <a:gradFill rotWithShape="1">
            <a:gsLst>
              <a:gs pos="0">
                <a:srgbClr val="F6931E">
                  <a:alpha val="28000"/>
                </a:srgbClr>
              </a:gs>
              <a:gs pos="70000">
                <a:srgbClr val="F693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8" name="Text 94"/>
          <p:cNvSpPr/>
          <p:nvPr/>
        </p:nvSpPr>
        <p:spPr>
          <a:xfrm>
            <a:off x="8430578" y="3612594"/>
            <a:ext cx="97451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 solución</a:t>
            </a:r>
            <a:endParaRPr lang="en-US" sz="1650" dirty="0"/>
          </a:p>
        </p:txBody>
      </p:sp>
      <p:sp>
        <p:nvSpPr>
          <p:cNvPr id="99" name="Text 95"/>
          <p:cNvSpPr/>
          <p:nvPr/>
        </p:nvSpPr>
        <p:spPr>
          <a:xfrm>
            <a:off x="8430578" y="4001214"/>
            <a:ext cx="716184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Portal único en SharePoint con </a:t>
            </a:r>
            <a:r>
              <a:rPr lang="en-US" sz="1238" b="1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notificaciones automáticas </a:t>
            </a: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permiten el seguimiento en tiempo real de cada fase, reduciendo tiempos y errores.</a:t>
            </a:r>
            <a:endParaRPr lang="en-US" sz="1238" dirty="0"/>
          </a:p>
        </p:txBody>
      </p:sp>
      <p:sp>
        <p:nvSpPr>
          <p:cNvPr id="100" name="Shape 96"/>
          <p:cNvSpPr/>
          <p:nvPr/>
        </p:nvSpPr>
        <p:spPr>
          <a:xfrm>
            <a:off x="8430578" y="4702255"/>
            <a:ext cx="66675" cy="66675"/>
          </a:xfrm>
          <a:prstGeom prst="ellipse">
            <a:avLst/>
          </a:prstGeom>
          <a:solidFill>
            <a:srgbClr val="35C4D6"/>
          </a:solidFill>
          <a:ln/>
        </p:spPr>
      </p:sp>
      <p:sp>
        <p:nvSpPr>
          <p:cNvPr id="101" name="Text 97"/>
          <p:cNvSpPr/>
          <p:nvPr/>
        </p:nvSpPr>
        <p:spPr>
          <a:xfrm>
            <a:off x="8602028" y="4644152"/>
            <a:ext cx="255448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centralizada de documentos</a:t>
            </a:r>
            <a:endParaRPr lang="en-US" sz="1200" dirty="0"/>
          </a:p>
        </p:txBody>
      </p:sp>
      <p:sp>
        <p:nvSpPr>
          <p:cNvPr id="102" name="Shape 98"/>
          <p:cNvSpPr/>
          <p:nvPr/>
        </p:nvSpPr>
        <p:spPr>
          <a:xfrm>
            <a:off x="12964954" y="4702255"/>
            <a:ext cx="66675" cy="66675"/>
          </a:xfrm>
          <a:prstGeom prst="ellipse">
            <a:avLst/>
          </a:prstGeom>
          <a:solidFill>
            <a:srgbClr val="4CAF6D"/>
          </a:solidFill>
          <a:ln/>
        </p:spPr>
      </p:sp>
      <p:sp>
        <p:nvSpPr>
          <p:cNvPr id="103" name="Text 99"/>
          <p:cNvSpPr/>
          <p:nvPr/>
        </p:nvSpPr>
        <p:spPr>
          <a:xfrm>
            <a:off x="13136404" y="4644152"/>
            <a:ext cx="172402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 de razones sociales</a:t>
            </a:r>
            <a:endParaRPr lang="en-US" sz="1200" dirty="0"/>
          </a:p>
        </p:txBody>
      </p:sp>
      <p:sp>
        <p:nvSpPr>
          <p:cNvPr id="104" name="Shape 100"/>
          <p:cNvSpPr/>
          <p:nvPr/>
        </p:nvSpPr>
        <p:spPr>
          <a:xfrm>
            <a:off x="8430578" y="4989909"/>
            <a:ext cx="66675" cy="66675"/>
          </a:xfrm>
          <a:prstGeom prst="ellipse">
            <a:avLst/>
          </a:prstGeom>
          <a:solidFill>
            <a:srgbClr val="E85B9E"/>
          </a:solidFill>
          <a:ln/>
        </p:spPr>
      </p:sp>
      <p:sp>
        <p:nvSpPr>
          <p:cNvPr id="105" name="Text 101"/>
          <p:cNvSpPr/>
          <p:nvPr/>
        </p:nvSpPr>
        <p:spPr>
          <a:xfrm>
            <a:off x="8602028" y="4931807"/>
            <a:ext cx="16371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impositiva</a:t>
            </a:r>
            <a:endParaRPr lang="en-US" sz="1200" dirty="0"/>
          </a:p>
        </p:txBody>
      </p:sp>
      <p:sp>
        <p:nvSpPr>
          <p:cNvPr id="106" name="Shape 102"/>
          <p:cNvSpPr/>
          <p:nvPr/>
        </p:nvSpPr>
        <p:spPr>
          <a:xfrm>
            <a:off x="12964954" y="4989909"/>
            <a:ext cx="66675" cy="6667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107" name="Text 103"/>
          <p:cNvSpPr/>
          <p:nvPr/>
        </p:nvSpPr>
        <p:spPr>
          <a:xfrm>
            <a:off x="13136404" y="4931807"/>
            <a:ext cx="202430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Cotizaciones y aprobaciones</a:t>
            </a:r>
            <a:endParaRPr lang="en-US" sz="1200" dirty="0"/>
          </a:p>
        </p:txBody>
      </p:sp>
      <p:sp>
        <p:nvSpPr>
          <p:cNvPr id="108" name="Shape 104"/>
          <p:cNvSpPr/>
          <p:nvPr/>
        </p:nvSpPr>
        <p:spPr>
          <a:xfrm>
            <a:off x="8430578" y="5277564"/>
            <a:ext cx="66675" cy="66675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9" name="Text 105"/>
          <p:cNvSpPr/>
          <p:nvPr/>
        </p:nvSpPr>
        <p:spPr>
          <a:xfrm>
            <a:off x="8602028" y="5219462"/>
            <a:ext cx="151923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Descarga de facturas</a:t>
            </a:r>
            <a:endParaRPr lang="en-US" sz="1200" dirty="0"/>
          </a:p>
        </p:txBody>
      </p:sp>
      <p:sp>
        <p:nvSpPr>
          <p:cNvPr id="110" name="Shape 106"/>
          <p:cNvSpPr/>
          <p:nvPr/>
        </p:nvSpPr>
        <p:spPr>
          <a:xfrm>
            <a:off x="12964954" y="5277564"/>
            <a:ext cx="66675" cy="66675"/>
          </a:xfrm>
          <a:prstGeom prst="ellipse">
            <a:avLst/>
          </a:prstGeom>
          <a:solidFill>
            <a:srgbClr val="A575E8"/>
          </a:solidFill>
          <a:ln/>
        </p:spPr>
      </p:sp>
      <p:sp>
        <p:nvSpPr>
          <p:cNvPr id="111" name="Text 107"/>
          <p:cNvSpPr/>
          <p:nvPr/>
        </p:nvSpPr>
        <p:spPr>
          <a:xfrm>
            <a:off x="13136404" y="5219462"/>
            <a:ext cx="111037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Aviso de pagos</a:t>
            </a:r>
            <a:endParaRPr lang="en-US" sz="1200" dirty="0"/>
          </a:p>
        </p:txBody>
      </p:sp>
      <p:sp>
        <p:nvSpPr>
          <p:cNvPr id="112" name="Text 108"/>
          <p:cNvSpPr/>
          <p:nvPr/>
        </p:nvSpPr>
        <p:spPr>
          <a:xfrm>
            <a:off x="685800" y="6157436"/>
            <a:ext cx="18608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 CONSEGUIDOS</a:t>
            </a:r>
            <a:endParaRPr lang="en-US" sz="975" dirty="0"/>
          </a:p>
        </p:txBody>
      </p:sp>
      <p:sp>
        <p:nvSpPr>
          <p:cNvPr id="113" name="Shape 109"/>
          <p:cNvSpPr/>
          <p:nvPr/>
        </p:nvSpPr>
        <p:spPr>
          <a:xfrm>
            <a:off x="685800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14" name="Text 110"/>
          <p:cNvSpPr/>
          <p:nvPr/>
        </p:nvSpPr>
        <p:spPr>
          <a:xfrm>
            <a:off x="685800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105</a:t>
            </a:r>
            <a:endParaRPr lang="en-US" sz="4200" dirty="0"/>
          </a:p>
        </p:txBody>
      </p:sp>
      <p:sp>
        <p:nvSpPr>
          <p:cNvPr id="115" name="Text 111"/>
          <p:cNvSpPr/>
          <p:nvPr/>
        </p:nvSpPr>
        <p:spPr>
          <a:xfrm>
            <a:off x="685800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clientes registrados en el portal</a:t>
            </a:r>
            <a:endParaRPr lang="en-US" sz="1200" dirty="0"/>
          </a:p>
        </p:txBody>
      </p:sp>
      <p:sp>
        <p:nvSpPr>
          <p:cNvPr id="116" name="Shape 112"/>
          <p:cNvSpPr/>
          <p:nvPr/>
        </p:nvSpPr>
        <p:spPr>
          <a:xfrm>
            <a:off x="4967288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17" name="Text 113"/>
          <p:cNvSpPr/>
          <p:nvPr/>
        </p:nvSpPr>
        <p:spPr>
          <a:xfrm>
            <a:off x="4967288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123</a:t>
            </a:r>
            <a:endParaRPr lang="en-US" sz="4200" dirty="0"/>
          </a:p>
        </p:txBody>
      </p:sp>
      <p:sp>
        <p:nvSpPr>
          <p:cNvPr id="118" name="Text 114"/>
          <p:cNvSpPr/>
          <p:nvPr/>
        </p:nvSpPr>
        <p:spPr>
          <a:xfrm>
            <a:off x="4967288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razones sociales registradas</a:t>
            </a:r>
            <a:endParaRPr lang="en-US" sz="1200" dirty="0"/>
          </a:p>
        </p:txBody>
      </p:sp>
      <p:sp>
        <p:nvSpPr>
          <p:cNvPr id="119" name="Shape 115"/>
          <p:cNvSpPr/>
          <p:nvPr/>
        </p:nvSpPr>
        <p:spPr>
          <a:xfrm>
            <a:off x="9248775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0" name="Text 116"/>
          <p:cNvSpPr/>
          <p:nvPr/>
        </p:nvSpPr>
        <p:spPr>
          <a:xfrm>
            <a:off x="9248775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174</a:t>
            </a:r>
            <a:endParaRPr lang="en-US" sz="4200" dirty="0"/>
          </a:p>
        </p:txBody>
      </p:sp>
      <p:sp>
        <p:nvSpPr>
          <p:cNvPr id="121" name="Text 117"/>
          <p:cNvSpPr/>
          <p:nvPr/>
        </p:nvSpPr>
        <p:spPr>
          <a:xfrm>
            <a:off x="9248775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cotizaciones realizadas en el portal</a:t>
            </a:r>
            <a:endParaRPr lang="en-US" sz="1200" dirty="0"/>
          </a:p>
        </p:txBody>
      </p:sp>
      <p:sp>
        <p:nvSpPr>
          <p:cNvPr id="122" name="Shape 118"/>
          <p:cNvSpPr/>
          <p:nvPr/>
        </p:nvSpPr>
        <p:spPr>
          <a:xfrm>
            <a:off x="13530263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3" name="Text 119"/>
          <p:cNvSpPr/>
          <p:nvPr/>
        </p:nvSpPr>
        <p:spPr>
          <a:xfrm>
            <a:off x="13530263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150</a:t>
            </a:r>
            <a:endParaRPr lang="en-US" sz="4200" dirty="0"/>
          </a:p>
        </p:txBody>
      </p:sp>
      <p:sp>
        <p:nvSpPr>
          <p:cNvPr id="124" name="Text 120"/>
          <p:cNvSpPr/>
          <p:nvPr/>
        </p:nvSpPr>
        <p:spPr>
          <a:xfrm>
            <a:off x="13530263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pedidos en los 2 primeros meses</a:t>
            </a:r>
            <a:endParaRPr lang="en-US" sz="1200" dirty="0"/>
          </a:p>
        </p:txBody>
      </p:sp>
      <p:sp>
        <p:nvSpPr>
          <p:cNvPr id="125" name="Shape 121"/>
          <p:cNvSpPr/>
          <p:nvPr/>
        </p:nvSpPr>
        <p:spPr>
          <a:xfrm>
            <a:off x="685800" y="8600123"/>
            <a:ext cx="38100" cy="772477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6" name="Text 122"/>
          <p:cNvSpPr/>
          <p:nvPr/>
        </p:nvSpPr>
        <p:spPr>
          <a:xfrm>
            <a:off x="933450" y="8847773"/>
            <a:ext cx="1476885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89"/>
              </a:lnSpc>
              <a:buNone/>
            </a:pPr>
            <a:r>
              <a:rPr lang="en-US" sz="1425" i="1" dirty="0">
                <a:solidFill>
                  <a:srgbClr val="E6E8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"El portal ordenó la interacción con los clientes, minimizando errores manuales y eliminando procesos administrativos tediosos en altas, cobranzas y gestión de cotizaciones."</a:t>
            </a:r>
            <a:endParaRPr lang="en-US" sz="1425" dirty="0"/>
          </a:p>
        </p:txBody>
      </p:sp>
      <p:sp>
        <p:nvSpPr>
          <p:cNvPr id="127" name="Text 123"/>
          <p:cNvSpPr/>
          <p:nvPr/>
        </p:nvSpPr>
        <p:spPr>
          <a:xfrm>
            <a:off x="15248692" y="8925401"/>
            <a:ext cx="23535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Juan Cruz Correa Urquiza</a:t>
            </a:r>
            <a:endParaRPr lang="en-US" sz="1275" dirty="0"/>
          </a:p>
        </p:txBody>
      </p:sp>
      <p:sp>
        <p:nvSpPr>
          <p:cNvPr id="128" name="Text 124"/>
          <p:cNvSpPr/>
          <p:nvPr/>
        </p:nvSpPr>
        <p:spPr>
          <a:xfrm>
            <a:off x="15248692" y="9134951"/>
            <a:ext cx="23535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Jefe de Nuevos Negocios · Havanna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acb5d12-1d8f-4d93-9a80-c6221259aedb}" enabled="1" method="Privileged" siteId="{a2927dc6-fd53-4ed2-94f0-7772c3efd74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Personalizado</PresentationFormat>
  <Paragraphs>35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Roboto</vt:lpstr>
      <vt:lpstr>Roboto Slab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Facundo Belini</cp:lastModifiedBy>
  <cp:revision>2</cp:revision>
  <dcterms:created xsi:type="dcterms:W3CDTF">2026-07-13T17:57:55Z</dcterms:created>
  <dcterms:modified xsi:type="dcterms:W3CDTF">2026-07-13T17:59:35Z</dcterms:modified>
</cp:coreProperties>
</file>