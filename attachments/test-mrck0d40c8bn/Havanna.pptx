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de éxito — Portal de ventas corporativo de Havanna. Solución basada en SharePoint que centraliza la información, automatiza procesos y simplifica el acceso a documentos. Desarrollado con React, Material UI, Redux, Active Directory, EventHub y RabbitMQ.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0" y="0"/>
            <a:ext cx="4953000" cy="2190750"/>
          </a:xfrm>
          <a:prstGeom prst="rect">
            <a:avLst/>
          </a:prstGeom>
          <a:gradFill rotWithShape="1">
            <a:gsLst>
              <a:gs pos="0">
                <a:srgbClr val="161823">
                  <a:alpha val="5000"/>
                </a:srgbClr>
              </a:gs>
              <a:gs pos="100000">
                <a:srgbClr val="161823">
                  <a:alpha val="500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685800" y="609600"/>
            <a:ext cx="113157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b="1" spc="158" kern="0" dirty="0">
                <a:solidFill>
                  <a:srgbClr val="F78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ÉXITO · WEB &amp; MOBILE DEVELOPMENT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685800" y="875348"/>
            <a:ext cx="5238818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50" b="1" spc="-88" kern="0" dirty="0">
                <a:solidFill>
                  <a:srgbClr val="1618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de ventas</a:t>
            </a:r>
            <a:endParaRPr lang="en-US" sz="5850" dirty="0"/>
          </a:p>
        </p:txBody>
      </p:sp>
      <p:sp>
        <p:nvSpPr>
          <p:cNvPr id="5" name="Shape 3"/>
          <p:cNvSpPr/>
          <p:nvPr/>
        </p:nvSpPr>
        <p:spPr>
          <a:xfrm>
            <a:off x="5867281" y="1328738"/>
            <a:ext cx="228600" cy="228600"/>
          </a:xfrm>
          <a:prstGeom prst="rect">
            <a:avLst/>
          </a:prstGeom>
          <a:solidFill>
            <a:srgbClr val="F78C3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4038"/>
            <a:ext cx="1059561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4A4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corporativo para </a:t>
            </a:r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61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Havanna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4A4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centraliza la información, automatiza procesos y simplifica el acceso a documentos para el trabajo diario de los equipos.</a:t>
            </a:r>
            <a:endParaRPr lang="en-US" sz="187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7345" y="666750"/>
            <a:ext cx="744855" cy="4191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3228975"/>
            <a:ext cx="8191500" cy="9525"/>
          </a:xfrm>
          <a:prstGeom prst="rect">
            <a:avLst/>
          </a:prstGeom>
          <a:solidFill>
            <a:srgbClr val="E3E5EA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909888"/>
            <a:ext cx="8437245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b="1" spc="158" kern="0" dirty="0">
                <a:solidFill>
                  <a:srgbClr val="8A8D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RETO</a:t>
            </a:r>
            <a:endParaRPr lang="en-US" sz="1125" dirty="0"/>
          </a:p>
        </p:txBody>
      </p:sp>
      <p:sp>
        <p:nvSpPr>
          <p:cNvPr id="10" name="Shape 7"/>
          <p:cNvSpPr/>
          <p:nvPr/>
        </p:nvSpPr>
        <p:spPr>
          <a:xfrm>
            <a:off x="685800" y="3522345"/>
            <a:ext cx="104775" cy="104775"/>
          </a:xfrm>
          <a:prstGeom prst="rect">
            <a:avLst/>
          </a:prstGeom>
          <a:solidFill>
            <a:srgbClr val="F78C38"/>
          </a:solidFill>
          <a:ln/>
        </p:spPr>
      </p:sp>
      <p:sp>
        <p:nvSpPr>
          <p:cNvPr id="11" name="Text 8"/>
          <p:cNvSpPr/>
          <p:nvPr/>
        </p:nvSpPr>
        <p:spPr>
          <a:xfrm>
            <a:off x="942975" y="3446145"/>
            <a:ext cx="8232827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61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Lentitud en procesos manuales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42975" y="3756660"/>
            <a:ext cx="8232827" cy="300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4A4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manuales que consumían tiempo y provocaban errores al trabajar con datos precisos.</a:t>
            </a:r>
            <a:endParaRPr lang="en-US" sz="1425" dirty="0"/>
          </a:p>
        </p:txBody>
      </p:sp>
      <p:sp>
        <p:nvSpPr>
          <p:cNvPr id="13" name="Shape 10"/>
          <p:cNvSpPr/>
          <p:nvPr/>
        </p:nvSpPr>
        <p:spPr>
          <a:xfrm>
            <a:off x="685800" y="4304824"/>
            <a:ext cx="104775" cy="104775"/>
          </a:xfrm>
          <a:prstGeom prst="rect">
            <a:avLst/>
          </a:prstGeom>
          <a:solidFill>
            <a:srgbClr val="F78C38"/>
          </a:solidFill>
          <a:ln/>
        </p:spPr>
      </p:sp>
      <p:sp>
        <p:nvSpPr>
          <p:cNvPr id="14" name="Text 11"/>
          <p:cNvSpPr/>
          <p:nvPr/>
        </p:nvSpPr>
        <p:spPr>
          <a:xfrm>
            <a:off x="942975" y="4228624"/>
            <a:ext cx="7668220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61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dispersa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942975" y="4539139"/>
            <a:ext cx="7668220" cy="300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4A4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clientes repartidos en múltiples plataformas, difíciles de consultar y gestionar.</a:t>
            </a:r>
            <a:endParaRPr lang="en-US" sz="1425" dirty="0"/>
          </a:p>
        </p:txBody>
      </p:sp>
      <p:sp>
        <p:nvSpPr>
          <p:cNvPr id="16" name="Shape 13"/>
          <p:cNvSpPr/>
          <p:nvPr/>
        </p:nvSpPr>
        <p:spPr>
          <a:xfrm>
            <a:off x="685800" y="5087303"/>
            <a:ext cx="104775" cy="104775"/>
          </a:xfrm>
          <a:prstGeom prst="rect">
            <a:avLst/>
          </a:prstGeom>
          <a:solidFill>
            <a:srgbClr val="F78C38"/>
          </a:solidFill>
          <a:ln/>
        </p:spPr>
      </p:sp>
      <p:sp>
        <p:nvSpPr>
          <p:cNvPr id="17" name="Text 14"/>
          <p:cNvSpPr/>
          <p:nvPr/>
        </p:nvSpPr>
        <p:spPr>
          <a:xfrm>
            <a:off x="942975" y="5011103"/>
            <a:ext cx="7281077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61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desordenados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942975" y="5321618"/>
            <a:ext cx="7281077" cy="300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4A4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una estructura clara, el acceso a la información compartida generaba retrasos.</a:t>
            </a:r>
            <a:endParaRPr lang="en-US" sz="1425" dirty="0"/>
          </a:p>
        </p:txBody>
      </p:sp>
      <p:sp>
        <p:nvSpPr>
          <p:cNvPr id="19" name="Shape 16"/>
          <p:cNvSpPr/>
          <p:nvPr/>
        </p:nvSpPr>
        <p:spPr>
          <a:xfrm>
            <a:off x="9410700" y="3228975"/>
            <a:ext cx="8191500" cy="9525"/>
          </a:xfrm>
          <a:prstGeom prst="rect">
            <a:avLst/>
          </a:prstGeom>
          <a:solidFill>
            <a:srgbClr val="E3E5EA"/>
          </a:solidFill>
          <a:ln/>
        </p:spPr>
      </p:sp>
      <p:sp>
        <p:nvSpPr>
          <p:cNvPr id="20" name="Text 17"/>
          <p:cNvSpPr/>
          <p:nvPr/>
        </p:nvSpPr>
        <p:spPr>
          <a:xfrm>
            <a:off x="9410700" y="2909888"/>
            <a:ext cx="8437245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b="1" spc="158" kern="0" dirty="0">
                <a:solidFill>
                  <a:srgbClr val="8A8D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 · PORTAL DE VENTAS</a:t>
            </a:r>
            <a:endParaRPr lang="en-US" sz="1125" dirty="0"/>
          </a:p>
        </p:txBody>
      </p:sp>
      <p:sp>
        <p:nvSpPr>
          <p:cNvPr id="21" name="Shape 18"/>
          <p:cNvSpPr/>
          <p:nvPr/>
        </p:nvSpPr>
        <p:spPr>
          <a:xfrm>
            <a:off x="9410700" y="3522345"/>
            <a:ext cx="104775" cy="104775"/>
          </a:xfrm>
          <a:prstGeom prst="rect">
            <a:avLst/>
          </a:prstGeom>
          <a:solidFill>
            <a:srgbClr val="161823"/>
          </a:solidFill>
          <a:ln/>
        </p:spPr>
      </p:sp>
      <p:sp>
        <p:nvSpPr>
          <p:cNvPr id="22" name="Text 19"/>
          <p:cNvSpPr/>
          <p:nvPr/>
        </p:nvSpPr>
        <p:spPr>
          <a:xfrm>
            <a:off x="9667875" y="3446145"/>
            <a:ext cx="7282256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61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integrado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9667875" y="3756660"/>
            <a:ext cx="7282256" cy="300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4A4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único basado en SharePoint que reúne toda la información en un solo lugar.</a:t>
            </a:r>
            <a:endParaRPr lang="en-US" sz="1425" dirty="0"/>
          </a:p>
        </p:txBody>
      </p:sp>
      <p:sp>
        <p:nvSpPr>
          <p:cNvPr id="24" name="Shape 21"/>
          <p:cNvSpPr/>
          <p:nvPr/>
        </p:nvSpPr>
        <p:spPr>
          <a:xfrm>
            <a:off x="9410700" y="4304824"/>
            <a:ext cx="104775" cy="104775"/>
          </a:xfrm>
          <a:prstGeom prst="rect">
            <a:avLst/>
          </a:prstGeom>
          <a:solidFill>
            <a:srgbClr val="161823"/>
          </a:solidFill>
          <a:ln/>
        </p:spPr>
      </p:sp>
      <p:sp>
        <p:nvSpPr>
          <p:cNvPr id="25" name="Text 22"/>
          <p:cNvSpPr/>
          <p:nvPr/>
        </p:nvSpPr>
        <p:spPr>
          <a:xfrm>
            <a:off x="9667875" y="4228624"/>
            <a:ext cx="7778889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61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automática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9667875" y="4539139"/>
            <a:ext cx="7778889" cy="300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4A4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 automáticas y seguimiento en tiempo real que reducen tiempos y errores.</a:t>
            </a:r>
            <a:endParaRPr lang="en-US" sz="1425" dirty="0"/>
          </a:p>
        </p:txBody>
      </p:sp>
      <p:sp>
        <p:nvSpPr>
          <p:cNvPr id="27" name="Shape 24"/>
          <p:cNvSpPr/>
          <p:nvPr/>
        </p:nvSpPr>
        <p:spPr>
          <a:xfrm>
            <a:off x="9410700" y="5087303"/>
            <a:ext cx="104775" cy="104775"/>
          </a:xfrm>
          <a:prstGeom prst="rect">
            <a:avLst/>
          </a:prstGeom>
          <a:solidFill>
            <a:srgbClr val="161823"/>
          </a:solidFill>
          <a:ln/>
        </p:spPr>
      </p:sp>
      <p:sp>
        <p:nvSpPr>
          <p:cNvPr id="28" name="Text 25"/>
          <p:cNvSpPr/>
          <p:nvPr/>
        </p:nvSpPr>
        <p:spPr>
          <a:xfrm>
            <a:off x="9667875" y="5011103"/>
            <a:ext cx="7756886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61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organizado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9667875" y="5321618"/>
            <a:ext cx="7756886" cy="300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4A4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para cargar, consultar y gestionar documentos de forma sencilla y colaborativa.</a:t>
            </a:r>
            <a:endParaRPr lang="en-US" sz="1425" dirty="0"/>
          </a:p>
        </p:txBody>
      </p:sp>
      <p:sp>
        <p:nvSpPr>
          <p:cNvPr id="30" name="Shape 27"/>
          <p:cNvSpPr/>
          <p:nvPr/>
        </p:nvSpPr>
        <p:spPr>
          <a:xfrm>
            <a:off x="9410700" y="5831681"/>
            <a:ext cx="781288" cy="320040"/>
          </a:xfrm>
          <a:prstGeom prst="rect">
            <a:avLst/>
          </a:prstGeom>
          <a:solidFill>
            <a:srgbClr val="F78C38"/>
          </a:solidFill>
          <a:ln w="7620">
            <a:solidFill>
              <a:srgbClr val="F78C3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551670" y="5925026"/>
            <a:ext cx="57554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10287238" y="5831681"/>
            <a:ext cx="1216938" cy="320040"/>
          </a:xfrm>
          <a:prstGeom prst="rect">
            <a:avLst/>
          </a:prstGeom>
          <a:ln w="7620">
            <a:solidFill>
              <a:srgbClr val="16182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428208" y="5925026"/>
            <a:ext cx="10111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0" dirty="0">
                <a:solidFill>
                  <a:srgbClr val="161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UI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1599426" y="5831681"/>
            <a:ext cx="788789" cy="320040"/>
          </a:xfrm>
          <a:prstGeom prst="rect">
            <a:avLst/>
          </a:prstGeom>
          <a:ln w="7620">
            <a:solidFill>
              <a:srgbClr val="16182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740396" y="5925026"/>
            <a:ext cx="58304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0" dirty="0">
                <a:solidFill>
                  <a:srgbClr val="161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REDUX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2483465" y="5831681"/>
            <a:ext cx="1236226" cy="320040"/>
          </a:xfrm>
          <a:prstGeom prst="rect">
            <a:avLst/>
          </a:prstGeom>
          <a:ln w="7620">
            <a:solidFill>
              <a:srgbClr val="16182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2624435" y="5925026"/>
            <a:ext cx="10304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0" dirty="0">
                <a:solidFill>
                  <a:srgbClr val="161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13814942" y="5831681"/>
            <a:ext cx="1714024" cy="320040"/>
          </a:xfrm>
          <a:prstGeom prst="rect">
            <a:avLst/>
          </a:prstGeom>
          <a:ln w="7620">
            <a:solidFill>
              <a:srgbClr val="16182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3955912" y="5925026"/>
            <a:ext cx="150828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0" dirty="0">
                <a:solidFill>
                  <a:srgbClr val="161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15624215" y="5831681"/>
            <a:ext cx="1079540" cy="320040"/>
          </a:xfrm>
          <a:prstGeom prst="rect">
            <a:avLst/>
          </a:prstGeom>
          <a:ln w="7620">
            <a:solidFill>
              <a:srgbClr val="16182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5765185" y="5925026"/>
            <a:ext cx="8738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0" dirty="0">
                <a:solidFill>
                  <a:srgbClr val="161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EVENTHUB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9410700" y="6246972"/>
            <a:ext cx="1064538" cy="320040"/>
          </a:xfrm>
          <a:prstGeom prst="rect">
            <a:avLst/>
          </a:prstGeom>
          <a:ln w="7620">
            <a:solidFill>
              <a:srgbClr val="16182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551670" y="6340317"/>
            <a:ext cx="8587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63" kern="0" dirty="0">
                <a:solidFill>
                  <a:srgbClr val="1618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RABBITMQ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9410700" y="6681311"/>
            <a:ext cx="90106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8A8D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</a:t>
            </a:r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4A4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&amp; Mobile Development by Raona </a:t>
            </a:r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8A8D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apps robustas, escalables y seguras.</a:t>
            </a:r>
            <a:endParaRPr lang="en-US" sz="1125" dirty="0"/>
          </a:p>
        </p:txBody>
      </p:sp>
      <p:sp>
        <p:nvSpPr>
          <p:cNvPr id="45" name="Shape 42"/>
          <p:cNvSpPr/>
          <p:nvPr/>
        </p:nvSpPr>
        <p:spPr>
          <a:xfrm>
            <a:off x="0" y="8631555"/>
            <a:ext cx="18288000" cy="1655445"/>
          </a:xfrm>
          <a:prstGeom prst="rect">
            <a:avLst/>
          </a:prstGeom>
          <a:solidFill>
            <a:srgbClr val="161823"/>
          </a:solidFill>
          <a:ln/>
        </p:spPr>
      </p:sp>
      <p:sp>
        <p:nvSpPr>
          <p:cNvPr id="46" name="Text 43"/>
          <p:cNvSpPr/>
          <p:nvPr/>
        </p:nvSpPr>
        <p:spPr>
          <a:xfrm>
            <a:off x="685800" y="8993505"/>
            <a:ext cx="112061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78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105</a:t>
            </a:r>
            <a:endParaRPr lang="en-US" sz="4200" dirty="0"/>
          </a:p>
        </p:txBody>
      </p:sp>
      <p:sp>
        <p:nvSpPr>
          <p:cNvPr id="47" name="Text 44"/>
          <p:cNvSpPr/>
          <p:nvPr/>
        </p:nvSpPr>
        <p:spPr>
          <a:xfrm>
            <a:off x="685800" y="9603105"/>
            <a:ext cx="1120616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98" kern="0" dirty="0">
                <a:solidFill>
                  <a:srgbClr val="C8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REGISTRADOS</a:t>
            </a:r>
            <a:endParaRPr lang="en-US" sz="975" dirty="0"/>
          </a:p>
        </p:txBody>
      </p:sp>
      <p:sp>
        <p:nvSpPr>
          <p:cNvPr id="48" name="Text 45"/>
          <p:cNvSpPr/>
          <p:nvPr/>
        </p:nvSpPr>
        <p:spPr>
          <a:xfrm>
            <a:off x="2225516" y="8993505"/>
            <a:ext cx="116038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78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174</a:t>
            </a:r>
            <a:endParaRPr lang="en-US" sz="4200" dirty="0"/>
          </a:p>
        </p:txBody>
      </p:sp>
      <p:sp>
        <p:nvSpPr>
          <p:cNvPr id="49" name="Text 46"/>
          <p:cNvSpPr/>
          <p:nvPr/>
        </p:nvSpPr>
        <p:spPr>
          <a:xfrm>
            <a:off x="2225516" y="9603105"/>
            <a:ext cx="1160383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98" kern="0" dirty="0">
                <a:solidFill>
                  <a:srgbClr val="C8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COTIZACIONES REALIZADAS</a:t>
            </a:r>
            <a:endParaRPr lang="en-US" sz="975" dirty="0"/>
          </a:p>
        </p:txBody>
      </p:sp>
      <p:sp>
        <p:nvSpPr>
          <p:cNvPr id="50" name="Text 47"/>
          <p:cNvSpPr/>
          <p:nvPr/>
        </p:nvSpPr>
        <p:spPr>
          <a:xfrm>
            <a:off x="3804999" y="8993505"/>
            <a:ext cx="1617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78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123</a:t>
            </a:r>
            <a:endParaRPr lang="en-US" sz="4200" dirty="0"/>
          </a:p>
        </p:txBody>
      </p:sp>
      <p:sp>
        <p:nvSpPr>
          <p:cNvPr id="51" name="Text 48"/>
          <p:cNvSpPr/>
          <p:nvPr/>
        </p:nvSpPr>
        <p:spPr>
          <a:xfrm>
            <a:off x="3804999" y="9603105"/>
            <a:ext cx="1547098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98" kern="0" dirty="0">
                <a:solidFill>
                  <a:srgbClr val="C8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RAZONES SOCIALES REGISTRADAS</a:t>
            </a:r>
            <a:endParaRPr lang="en-US" sz="975" dirty="0"/>
          </a:p>
        </p:txBody>
      </p:sp>
      <p:sp>
        <p:nvSpPr>
          <p:cNvPr id="52" name="Text 49"/>
          <p:cNvSpPr/>
          <p:nvPr/>
        </p:nvSpPr>
        <p:spPr>
          <a:xfrm>
            <a:off x="5771198" y="8993505"/>
            <a:ext cx="181941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78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</a:t>
            </a:r>
            <a:endParaRPr lang="en-US" sz="4200" dirty="0"/>
          </a:p>
        </p:txBody>
      </p:sp>
      <p:sp>
        <p:nvSpPr>
          <p:cNvPr id="53" name="Text 50"/>
          <p:cNvSpPr/>
          <p:nvPr/>
        </p:nvSpPr>
        <p:spPr>
          <a:xfrm>
            <a:off x="5771198" y="9603105"/>
            <a:ext cx="1730216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98" kern="0" dirty="0">
                <a:solidFill>
                  <a:srgbClr val="C8C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EN LOS DOS PRIMEROS MESES</a:t>
            </a:r>
            <a:endParaRPr lang="en-US" sz="975" dirty="0"/>
          </a:p>
        </p:txBody>
      </p:sp>
      <p:sp>
        <p:nvSpPr>
          <p:cNvPr id="54" name="Shape 51"/>
          <p:cNvSpPr/>
          <p:nvPr/>
        </p:nvSpPr>
        <p:spPr>
          <a:xfrm>
            <a:off x="8034814" y="9002554"/>
            <a:ext cx="15240" cy="913448"/>
          </a:xfrm>
          <a:prstGeom prst="rect">
            <a:avLst/>
          </a:prstGeom>
          <a:solidFill>
            <a:srgbClr val="F78C38"/>
          </a:solidFill>
          <a:ln/>
        </p:spPr>
      </p:sp>
      <p:sp>
        <p:nvSpPr>
          <p:cNvPr id="55" name="Text 52"/>
          <p:cNvSpPr/>
          <p:nvPr/>
        </p:nvSpPr>
        <p:spPr>
          <a:xfrm>
            <a:off x="8354854" y="9002554"/>
            <a:ext cx="9524767" cy="651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“El portal ha ordenado nuestra interacción con los clientes, minimizando errores manuales y facilitando el acceso a la información.”</a:t>
            </a:r>
            <a:endParaRPr lang="en-US" sz="1725" dirty="0"/>
          </a:p>
        </p:txBody>
      </p:sp>
      <p:sp>
        <p:nvSpPr>
          <p:cNvPr id="56" name="Text 53"/>
          <p:cNvSpPr/>
          <p:nvPr/>
        </p:nvSpPr>
        <p:spPr>
          <a:xfrm>
            <a:off x="8354854" y="9730264"/>
            <a:ext cx="1017208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F78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Cruz Correa Urquiza</a:t>
            </a:r>
            <a:pPr algn="l"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8A8D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Jefe de Nuevos Negocios, Havanna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2026-07-08T18:41:18Z</dcterms:created>
  <dcterms:modified xsi:type="dcterms:W3CDTF">2026-07-08T18:41:18Z</dcterms:modified>
</cp:coreProperties>
</file>