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éxito YPF: migración masiva de más de mil flujos de trabajo a Power Automate con estrategia Low Code, liderada por Raona. Reconocido como el mayor proyecto de migración de flujos en LATAM.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782550" y="2476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192125" y="2476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3877925" y="2476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4258925" y="247650"/>
            <a:ext cx="7334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2782550" y="45720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658850" y="45720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392275" y="45720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5278100" y="457200"/>
            <a:ext cx="704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068675" y="45720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201650" y="66675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611225" y="666750"/>
            <a:ext cx="1047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744700" y="666750"/>
            <a:ext cx="581025" cy="85725"/>
          </a:xfrm>
          <a:prstGeom prst="roundRect">
            <a:avLst>
              <a:gd name="adj" fmla="val 44444"/>
            </a:avLst>
          </a:prstGeom>
          <a:solidFill>
            <a:srgbClr val="E85B9E">
              <a:alpha val="4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5411450" y="666750"/>
            <a:ext cx="800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297275" y="666750"/>
            <a:ext cx="3714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782550" y="8763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3563600" y="876300"/>
            <a:ext cx="3524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2782550" y="108585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3163550" y="1085850"/>
            <a:ext cx="4286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677900" y="1085850"/>
            <a:ext cx="628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2992100" y="1295400"/>
            <a:ext cx="8763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954125" y="1295400"/>
            <a:ext cx="3429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4382750" y="12954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2573000" y="15049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468350" y="1504950"/>
            <a:ext cx="1038225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4592300" y="150495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2782550" y="17145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3477875" y="1714500"/>
            <a:ext cx="4476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4011275" y="1714500"/>
            <a:ext cx="8572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4954250" y="17145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497175" y="1714500"/>
            <a:ext cx="9620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3201650" y="1924050"/>
            <a:ext cx="866775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154150" y="192405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4935200" y="1924050"/>
            <a:ext cx="50482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5525750" y="1924050"/>
            <a:ext cx="4095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6021050" y="1924050"/>
            <a:ext cx="8096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782550" y="2133600"/>
            <a:ext cx="2286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096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3906500" y="2133600"/>
            <a:ext cx="304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297025" y="213360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5001875" y="2133600"/>
            <a:ext cx="723900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2573000" y="2343150"/>
            <a:ext cx="9906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3649325" y="23431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3982700" y="2343150"/>
            <a:ext cx="82867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97100" y="2343150"/>
            <a:ext cx="7905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5773400" y="234315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2573000" y="2552700"/>
            <a:ext cx="2952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2954000" y="25527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3201650" y="2762250"/>
            <a:ext cx="6477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3935075" y="2762250"/>
            <a:ext cx="46672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2573000" y="2971800"/>
            <a:ext cx="4191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3077825" y="2971800"/>
            <a:ext cx="9048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4068425" y="2971800"/>
            <a:ext cx="3619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2992100" y="3181350"/>
            <a:ext cx="5715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3649325" y="3181350"/>
            <a:ext cx="6381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2573000" y="3390900"/>
            <a:ext cx="609600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3268325" y="3390900"/>
            <a:ext cx="514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3868400" y="3390900"/>
            <a:ext cx="83820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4792325" y="3390900"/>
            <a:ext cx="457200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5335250" y="3390900"/>
            <a:ext cx="2857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2573000" y="3600450"/>
            <a:ext cx="381000" cy="85725"/>
          </a:xfrm>
          <a:prstGeom prst="roundRect">
            <a:avLst>
              <a:gd name="adj" fmla="val 44444"/>
            </a:avLst>
          </a:prstGeom>
          <a:solidFill>
            <a:srgbClr val="4CAF6D">
              <a:alpha val="4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3039725" y="3600450"/>
            <a:ext cx="247650" cy="85725"/>
          </a:xfrm>
          <a:prstGeom prst="roundRect">
            <a:avLst>
              <a:gd name="adj" fmla="val 44444"/>
            </a:avLst>
          </a:prstGeom>
          <a:solidFill>
            <a:srgbClr val="5B8DEF">
              <a:alpha val="47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2782550" y="3810000"/>
            <a:ext cx="68580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3554075" y="3810000"/>
            <a:ext cx="676275" cy="85725"/>
          </a:xfrm>
          <a:prstGeom prst="roundRect">
            <a:avLst>
              <a:gd name="adj" fmla="val 44444"/>
            </a:avLst>
          </a:prstGeom>
          <a:solidFill>
            <a:srgbClr val="35C4D6">
              <a:alpha val="47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4316075" y="3810000"/>
            <a:ext cx="3238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2992100" y="4019550"/>
            <a:ext cx="1000125" cy="85725"/>
          </a:xfrm>
          <a:prstGeom prst="roundRect">
            <a:avLst>
              <a:gd name="adj" fmla="val 44444"/>
            </a:avLst>
          </a:prstGeom>
          <a:solidFill>
            <a:srgbClr val="A575E8">
              <a:alpha val="47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4077950" y="4019550"/>
            <a:ext cx="6191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4782800" y="4019550"/>
            <a:ext cx="981075" cy="85725"/>
          </a:xfrm>
          <a:prstGeom prst="roundRect">
            <a:avLst>
              <a:gd name="adj" fmla="val 44444"/>
            </a:avLst>
          </a:prstGeom>
          <a:solidFill>
            <a:srgbClr val="F2C744">
              <a:alpha val="4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82550" y="4229100"/>
            <a:ext cx="895350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13763625" y="4229100"/>
            <a:ext cx="69532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4544675" y="4229100"/>
            <a:ext cx="771525" cy="85725"/>
          </a:xfrm>
          <a:prstGeom prst="roundRect">
            <a:avLst>
              <a:gd name="adj" fmla="val 44444"/>
            </a:avLst>
          </a:prstGeom>
          <a:solidFill>
            <a:srgbClr val="F6931E">
              <a:alpha val="47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5401925" y="4229100"/>
            <a:ext cx="600075" cy="85725"/>
          </a:xfrm>
          <a:prstGeom prst="roundRect">
            <a:avLst>
              <a:gd name="adj" fmla="val 44444"/>
            </a:avLst>
          </a:prstGeom>
          <a:solidFill>
            <a:srgbClr val="333A52">
              <a:alpha val="5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2192000" y="0"/>
            <a:ext cx="6096000" cy="10287000"/>
          </a:xfrm>
          <a:prstGeom prst="rect">
            <a:avLst/>
          </a:prstGeom>
          <a:gradFill rotWithShape="1">
            <a:gsLst>
              <a:gs pos="0">
                <a:srgbClr val="171A26">
                  <a:alpha val="100000"/>
                </a:srgbClr>
              </a:gs>
              <a:gs pos="45000">
                <a:srgbClr val="171A26">
                  <a:alpha val="0"/>
                </a:srgbClr>
              </a:gs>
            </a:gsLst>
            <a:lin ang="0" scaled="0"/>
          </a:gradFill>
          <a:ln/>
        </p:spPr>
      </p:sp>
      <p:pic>
        <p:nvPicPr>
          <p:cNvPr id="7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38150"/>
            <a:ext cx="1502807" cy="38100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2417207" y="457200"/>
            <a:ext cx="14288" cy="342900"/>
          </a:xfrm>
          <a:prstGeom prst="rect">
            <a:avLst/>
          </a:prstGeom>
          <a:solidFill>
            <a:srgbClr val="3A4056"/>
          </a:solidFill>
          <a:ln/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94" y="485775"/>
            <a:ext cx="1373029" cy="285750"/>
          </a:xfrm>
          <a:prstGeom prst="rect">
            <a:avLst/>
          </a:prstGeom>
        </p:spPr>
      </p:pic>
      <p:sp>
        <p:nvSpPr>
          <p:cNvPr id="77" name="Shape 73"/>
          <p:cNvSpPr/>
          <p:nvPr/>
        </p:nvSpPr>
        <p:spPr>
          <a:xfrm>
            <a:off x="685800" y="1466850"/>
            <a:ext cx="85725" cy="8572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78" name="Shape 74"/>
          <p:cNvSpPr/>
          <p:nvPr/>
        </p:nvSpPr>
        <p:spPr>
          <a:xfrm>
            <a:off x="704850" y="1609725"/>
            <a:ext cx="47625" cy="1854279"/>
          </a:xfrm>
          <a:prstGeom prst="roundRect">
            <a:avLst>
              <a:gd name="adj" fmla="val 50000"/>
            </a:avLst>
          </a:prstGeom>
          <a:solidFill>
            <a:srgbClr val="F6931E"/>
          </a:solidFill>
          <a:ln/>
        </p:spPr>
      </p:sp>
      <p:sp>
        <p:nvSpPr>
          <p:cNvPr id="79" name="Text 75"/>
          <p:cNvSpPr/>
          <p:nvPr/>
        </p:nvSpPr>
        <p:spPr>
          <a:xfrm>
            <a:off x="1019175" y="1468755"/>
            <a:ext cx="219687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spc="247" kern="0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CASO DE ÉXITO · YPF</a:t>
            </a:r>
            <a:endParaRPr lang="en-US" sz="1125" dirty="0"/>
          </a:p>
        </p:txBody>
      </p:sp>
      <p:sp>
        <p:nvSpPr>
          <p:cNvPr id="80" name="Shape 76"/>
          <p:cNvSpPr/>
          <p:nvPr/>
        </p:nvSpPr>
        <p:spPr>
          <a:xfrm>
            <a:off x="3168730" y="1409700"/>
            <a:ext cx="3338751" cy="293370"/>
          </a:xfrm>
          <a:prstGeom prst="roundRect">
            <a:avLst>
              <a:gd name="adj" fmla="val 50000"/>
            </a:avLst>
          </a:prstGeom>
          <a:solidFill>
            <a:srgbClr val="171A26">
              <a:alpha val="85000"/>
            </a:srgbClr>
          </a:solidFill>
          <a:ln w="7620">
            <a:solidFill>
              <a:srgbClr val="F6931E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3328749" y="1523048"/>
            <a:ext cx="66675" cy="6667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82" name="Text 78"/>
          <p:cNvSpPr/>
          <p:nvPr/>
        </p:nvSpPr>
        <p:spPr>
          <a:xfrm>
            <a:off x="3481149" y="1483995"/>
            <a:ext cx="3152942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6D0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mayor proyecto de migración de flujos en LATAM</a:t>
            </a:r>
            <a:endParaRPr lang="en-US" sz="975" dirty="0"/>
          </a:p>
        </p:txBody>
      </p:sp>
      <p:sp>
        <p:nvSpPr>
          <p:cNvPr id="83" name="Text 79"/>
          <p:cNvSpPr/>
          <p:nvPr/>
        </p:nvSpPr>
        <p:spPr>
          <a:xfrm>
            <a:off x="1019175" y="1836420"/>
            <a:ext cx="12650141" cy="6522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20"/>
              </a:lnSpc>
              <a:buNone/>
            </a:pPr>
            <a:r>
              <a:rPr lang="en-US" sz="4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Migración de Flujos con Power Automate</a:t>
            </a:r>
            <a:endParaRPr lang="en-US" sz="4650" dirty="0"/>
          </a:p>
        </p:txBody>
      </p:sp>
      <p:sp>
        <p:nvSpPr>
          <p:cNvPr id="84" name="Text 80"/>
          <p:cNvSpPr/>
          <p:nvPr/>
        </p:nvSpPr>
        <p:spPr>
          <a:xfrm>
            <a:off x="1019175" y="2583894"/>
            <a:ext cx="9810750" cy="918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650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Raona lideró la migración masiva de más de mil flujos de trabajo de YPF a Power Automate, con una estrategia Low Code para optimizar, homogeneizar y reducir licencias de terceros mejorando el governance.</a:t>
            </a:r>
            <a:endParaRPr lang="en-US" sz="1650" dirty="0"/>
          </a:p>
        </p:txBody>
      </p:sp>
      <p:sp>
        <p:nvSpPr>
          <p:cNvPr id="85" name="Shape 81"/>
          <p:cNvSpPr/>
          <p:nvPr/>
        </p:nvSpPr>
        <p:spPr>
          <a:xfrm>
            <a:off x="685800" y="3787855"/>
            <a:ext cx="7184707" cy="2536031"/>
          </a:xfrm>
          <a:prstGeom prst="roundRect">
            <a:avLst>
              <a:gd name="adj" fmla="val 6009"/>
            </a:avLst>
          </a:prstGeom>
          <a:solidFill>
            <a:srgbClr val="1F2333"/>
          </a:solidFill>
          <a:ln w="7620">
            <a:solidFill>
              <a:srgbClr val="2C3145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979170" y="4043124"/>
            <a:ext cx="725776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desafío</a:t>
            </a:r>
            <a:endParaRPr lang="en-US" sz="1650" dirty="0"/>
          </a:p>
        </p:txBody>
      </p:sp>
      <p:sp>
        <p:nvSpPr>
          <p:cNvPr id="87" name="Shape 83"/>
          <p:cNvSpPr/>
          <p:nvPr/>
        </p:nvSpPr>
        <p:spPr>
          <a:xfrm>
            <a:off x="979170" y="4488894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88" name="Text 84"/>
          <p:cNvSpPr/>
          <p:nvPr/>
        </p:nvSpPr>
        <p:spPr>
          <a:xfrm>
            <a:off x="941070" y="448889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</a:t>
            </a:r>
            <a:endParaRPr lang="en-US" sz="1200" dirty="0"/>
          </a:p>
        </p:txBody>
      </p:sp>
      <p:sp>
        <p:nvSpPr>
          <p:cNvPr id="89" name="Text 85"/>
          <p:cNvSpPr/>
          <p:nvPr/>
        </p:nvSpPr>
        <p:spPr>
          <a:xfrm>
            <a:off x="1436370" y="4488894"/>
            <a:ext cx="4981266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Volumen enorme</a:t>
            </a:r>
            <a:endParaRPr lang="en-US" sz="1350" dirty="0"/>
          </a:p>
        </p:txBody>
      </p:sp>
      <p:sp>
        <p:nvSpPr>
          <p:cNvPr id="90" name="Text 86"/>
          <p:cNvSpPr/>
          <p:nvPr/>
        </p:nvSpPr>
        <p:spPr>
          <a:xfrm>
            <a:off x="1436370" y="4713684"/>
            <a:ext cx="4981266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+1.000 flujos, cientos de formularios InfoPath y +100 site collections.</a:t>
            </a:r>
            <a:endParaRPr lang="en-US" sz="1163" dirty="0"/>
          </a:p>
        </p:txBody>
      </p:sp>
      <p:sp>
        <p:nvSpPr>
          <p:cNvPr id="91" name="Shape 87"/>
          <p:cNvSpPr/>
          <p:nvPr/>
        </p:nvSpPr>
        <p:spPr>
          <a:xfrm>
            <a:off x="979170" y="5055870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92" name="Text 88"/>
          <p:cNvSpPr/>
          <p:nvPr/>
        </p:nvSpPr>
        <p:spPr>
          <a:xfrm>
            <a:off x="941070" y="505587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</a:t>
            </a:r>
            <a:endParaRPr lang="en-US" sz="1200" dirty="0"/>
          </a:p>
        </p:txBody>
      </p:sp>
      <p:sp>
        <p:nvSpPr>
          <p:cNvPr id="93" name="Text 89"/>
          <p:cNvSpPr/>
          <p:nvPr/>
        </p:nvSpPr>
        <p:spPr>
          <a:xfrm>
            <a:off x="1436370" y="5055870"/>
            <a:ext cx="4811923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Continuidad del negocio</a:t>
            </a:r>
            <a:endParaRPr lang="en-US" sz="1350" dirty="0"/>
          </a:p>
        </p:txBody>
      </p:sp>
      <p:sp>
        <p:nvSpPr>
          <p:cNvPr id="94" name="Text 90"/>
          <p:cNvSpPr/>
          <p:nvPr/>
        </p:nvSpPr>
        <p:spPr>
          <a:xfrm>
            <a:off x="1436370" y="5280660"/>
            <a:ext cx="4811923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Catalogar y migrar todo controlando múltiples ventanas de tiempo.</a:t>
            </a:r>
            <a:endParaRPr lang="en-US" sz="1163" dirty="0"/>
          </a:p>
        </p:txBody>
      </p:sp>
      <p:sp>
        <p:nvSpPr>
          <p:cNvPr id="95" name="Shape 91"/>
          <p:cNvSpPr/>
          <p:nvPr/>
        </p:nvSpPr>
        <p:spPr>
          <a:xfrm>
            <a:off x="979170" y="5622846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F6931E">
              <a:alpha val="14000"/>
            </a:srgbClr>
          </a:solidFill>
          <a:ln/>
        </p:spPr>
      </p:sp>
      <p:sp>
        <p:nvSpPr>
          <p:cNvPr id="96" name="Text 92"/>
          <p:cNvSpPr/>
          <p:nvPr/>
        </p:nvSpPr>
        <p:spPr>
          <a:xfrm>
            <a:off x="941070" y="56228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</a:t>
            </a:r>
            <a:endParaRPr lang="en-US" sz="1200" dirty="0"/>
          </a:p>
        </p:txBody>
      </p:sp>
      <p:sp>
        <p:nvSpPr>
          <p:cNvPr id="97" name="Text 93"/>
          <p:cNvSpPr/>
          <p:nvPr/>
        </p:nvSpPr>
        <p:spPr>
          <a:xfrm>
            <a:off x="1436370" y="5622846"/>
            <a:ext cx="397490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F4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Adopción y riesgos externos</a:t>
            </a:r>
            <a:endParaRPr lang="en-US" sz="1350" dirty="0"/>
          </a:p>
        </p:txBody>
      </p:sp>
      <p:sp>
        <p:nvSpPr>
          <p:cNvPr id="98" name="Text 94"/>
          <p:cNvSpPr/>
          <p:nvPr/>
        </p:nvSpPr>
        <p:spPr>
          <a:xfrm>
            <a:off x="1436370" y="5847636"/>
            <a:ext cx="3974902" cy="237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23"/>
              </a:lnSpc>
              <a:buNone/>
            </a:pPr>
            <a:r>
              <a:rPr lang="en-US" sz="1163" dirty="0">
                <a:solidFill>
                  <a:srgbClr val="9AA0B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 fuera de sistemas y tecnología aún incipiente.</a:t>
            </a:r>
            <a:endParaRPr lang="en-US" sz="1163" dirty="0"/>
          </a:p>
        </p:txBody>
      </p:sp>
      <p:sp>
        <p:nvSpPr>
          <p:cNvPr id="99" name="Shape 95"/>
          <p:cNvSpPr/>
          <p:nvPr/>
        </p:nvSpPr>
        <p:spPr>
          <a:xfrm>
            <a:off x="8118157" y="3787855"/>
            <a:ext cx="9484043" cy="2536031"/>
          </a:xfrm>
          <a:prstGeom prst="roundRect">
            <a:avLst>
              <a:gd name="adj" fmla="val 6009"/>
            </a:avLst>
          </a:prstGeom>
          <a:gradFill rotWithShape="1">
            <a:gsLst>
              <a:gs pos="0">
                <a:srgbClr val="241F2E">
                  <a:alpha val="100000"/>
                </a:srgbClr>
              </a:gs>
              <a:gs pos="60000">
                <a:srgbClr val="1F2333">
                  <a:alpha val="100000"/>
                </a:srgbClr>
              </a:gs>
            </a:gsLst>
            <a:lin ang="2700000" scaled="0"/>
          </a:gradFill>
          <a:ln w="7620">
            <a:solidFill>
              <a:srgbClr val="3A2F2A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6261081" y="3223974"/>
            <a:ext cx="1905000" cy="1905000"/>
          </a:xfrm>
          <a:prstGeom prst="ellipse">
            <a:avLst/>
          </a:prstGeom>
          <a:gradFill rotWithShape="1">
            <a:gsLst>
              <a:gs pos="0">
                <a:srgbClr val="F6931E">
                  <a:alpha val="28000"/>
                </a:srgbClr>
              </a:gs>
              <a:gs pos="70000">
                <a:srgbClr val="F6931E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101" name="Text 97"/>
          <p:cNvSpPr/>
          <p:nvPr/>
        </p:nvSpPr>
        <p:spPr>
          <a:xfrm>
            <a:off x="8430578" y="4043124"/>
            <a:ext cx="9745123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 solución</a:t>
            </a:r>
            <a:endParaRPr lang="en-US" sz="1650" dirty="0"/>
          </a:p>
        </p:txBody>
      </p:sp>
      <p:sp>
        <p:nvSpPr>
          <p:cNvPr id="102" name="Text 98"/>
          <p:cNvSpPr/>
          <p:nvPr/>
        </p:nvSpPr>
        <p:spPr>
          <a:xfrm>
            <a:off x="8430578" y="4431744"/>
            <a:ext cx="7161848" cy="7453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Trabajando en </a:t>
            </a:r>
            <a:pPr algn="l" indent="0" marL="0">
              <a:lnSpc>
                <a:spcPct val="123750"/>
              </a:lnSpc>
              <a:buNone/>
            </a:pPr>
            <a:r>
              <a:rPr lang="en-US" sz="1238" b="1" dirty="0">
                <a:solidFill>
                  <a:srgbClr val="F6931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modalidad Scrum </a:t>
            </a:r>
            <a:pPr algn="l" indent="0" marL="0">
              <a:lnSpc>
                <a:spcPct val="123750"/>
              </a:lnSpc>
              <a:buNone/>
            </a:pPr>
            <a:r>
              <a:rPr lang="en-US" sz="1238" dirty="0">
                <a:solidFill>
                  <a:srgbClr val="C2C6D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se catalogaron y migraron los flujos por complejidad a Power Automate, dejando los más complejos en Nintex for Office 365, con capacitación en Low Code para el equipo de YPF.</a:t>
            </a:r>
            <a:endParaRPr lang="en-US" sz="1238" dirty="0"/>
          </a:p>
        </p:txBody>
      </p:sp>
      <p:sp>
        <p:nvSpPr>
          <p:cNvPr id="103" name="Shape 99"/>
          <p:cNvSpPr/>
          <p:nvPr/>
        </p:nvSpPr>
        <p:spPr>
          <a:xfrm>
            <a:off x="8430578" y="5368528"/>
            <a:ext cx="66675" cy="66675"/>
          </a:xfrm>
          <a:prstGeom prst="ellipse">
            <a:avLst/>
          </a:prstGeom>
          <a:solidFill>
            <a:srgbClr val="35C4D6"/>
          </a:solidFill>
          <a:ln/>
        </p:spPr>
      </p:sp>
      <p:sp>
        <p:nvSpPr>
          <p:cNvPr id="104" name="Text 100"/>
          <p:cNvSpPr/>
          <p:nvPr/>
        </p:nvSpPr>
        <p:spPr>
          <a:xfrm>
            <a:off x="8602028" y="5310426"/>
            <a:ext cx="127135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Modalidad Scrum</a:t>
            </a:r>
            <a:endParaRPr lang="en-US" sz="1200" dirty="0"/>
          </a:p>
        </p:txBody>
      </p:sp>
      <p:sp>
        <p:nvSpPr>
          <p:cNvPr id="105" name="Shape 101"/>
          <p:cNvSpPr/>
          <p:nvPr/>
        </p:nvSpPr>
        <p:spPr>
          <a:xfrm>
            <a:off x="12964954" y="5368528"/>
            <a:ext cx="66675" cy="66675"/>
          </a:xfrm>
          <a:prstGeom prst="ellipse">
            <a:avLst/>
          </a:prstGeom>
          <a:solidFill>
            <a:srgbClr val="4CAF6D"/>
          </a:solidFill>
          <a:ln/>
        </p:spPr>
      </p:sp>
      <p:sp>
        <p:nvSpPr>
          <p:cNvPr id="106" name="Text 102"/>
          <p:cNvSpPr/>
          <p:nvPr/>
        </p:nvSpPr>
        <p:spPr>
          <a:xfrm>
            <a:off x="13136404" y="5310426"/>
            <a:ext cx="210323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Catalogación por complejidad</a:t>
            </a:r>
            <a:endParaRPr lang="en-US" sz="1200" dirty="0"/>
          </a:p>
        </p:txBody>
      </p:sp>
      <p:sp>
        <p:nvSpPr>
          <p:cNvPr id="107" name="Shape 103"/>
          <p:cNvSpPr/>
          <p:nvPr/>
        </p:nvSpPr>
        <p:spPr>
          <a:xfrm>
            <a:off x="8430578" y="5656183"/>
            <a:ext cx="66675" cy="66675"/>
          </a:xfrm>
          <a:prstGeom prst="ellipse">
            <a:avLst/>
          </a:prstGeom>
          <a:solidFill>
            <a:srgbClr val="E85B9E"/>
          </a:solidFill>
          <a:ln/>
        </p:spPr>
      </p:sp>
      <p:sp>
        <p:nvSpPr>
          <p:cNvPr id="108" name="Text 104"/>
          <p:cNvSpPr/>
          <p:nvPr/>
        </p:nvSpPr>
        <p:spPr>
          <a:xfrm>
            <a:off x="8602028" y="5598081"/>
            <a:ext cx="256758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Migración masiva a Power Automate</a:t>
            </a:r>
            <a:endParaRPr lang="en-US" sz="1200" dirty="0"/>
          </a:p>
        </p:txBody>
      </p:sp>
      <p:sp>
        <p:nvSpPr>
          <p:cNvPr id="109" name="Shape 105"/>
          <p:cNvSpPr/>
          <p:nvPr/>
        </p:nvSpPr>
        <p:spPr>
          <a:xfrm>
            <a:off x="12964954" y="5656183"/>
            <a:ext cx="66675" cy="66675"/>
          </a:xfrm>
          <a:prstGeom prst="ellipse">
            <a:avLst/>
          </a:prstGeom>
          <a:solidFill>
            <a:srgbClr val="F6931E"/>
          </a:solidFill>
          <a:ln/>
        </p:spPr>
      </p:sp>
      <p:sp>
        <p:nvSpPr>
          <p:cNvPr id="110" name="Text 106"/>
          <p:cNvSpPr/>
          <p:nvPr/>
        </p:nvSpPr>
        <p:spPr>
          <a:xfrm>
            <a:off x="13136404" y="5598081"/>
            <a:ext cx="230362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Flujos complejos en Nintex O365</a:t>
            </a:r>
            <a:endParaRPr lang="en-US" sz="1200" dirty="0"/>
          </a:p>
        </p:txBody>
      </p:sp>
      <p:sp>
        <p:nvSpPr>
          <p:cNvPr id="111" name="Shape 107"/>
          <p:cNvSpPr/>
          <p:nvPr/>
        </p:nvSpPr>
        <p:spPr>
          <a:xfrm>
            <a:off x="8430578" y="5943838"/>
            <a:ext cx="66675" cy="66675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12" name="Text 108"/>
          <p:cNvSpPr/>
          <p:nvPr/>
        </p:nvSpPr>
        <p:spPr>
          <a:xfrm>
            <a:off x="8602028" y="5885736"/>
            <a:ext cx="147113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Estrategia Low Code</a:t>
            </a:r>
            <a:endParaRPr lang="en-US" sz="1200" dirty="0"/>
          </a:p>
        </p:txBody>
      </p:sp>
      <p:sp>
        <p:nvSpPr>
          <p:cNvPr id="113" name="Shape 109"/>
          <p:cNvSpPr/>
          <p:nvPr/>
        </p:nvSpPr>
        <p:spPr>
          <a:xfrm>
            <a:off x="12964954" y="5943838"/>
            <a:ext cx="66675" cy="66675"/>
          </a:xfrm>
          <a:prstGeom prst="ellipse">
            <a:avLst/>
          </a:prstGeom>
          <a:solidFill>
            <a:srgbClr val="A575E8"/>
          </a:solidFill>
          <a:ln/>
        </p:spPr>
      </p:sp>
      <p:sp>
        <p:nvSpPr>
          <p:cNvPr id="114" name="Text 110"/>
          <p:cNvSpPr/>
          <p:nvPr/>
        </p:nvSpPr>
        <p:spPr>
          <a:xfrm>
            <a:off x="13136404" y="5885736"/>
            <a:ext cx="288178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4D8E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Capacitación y traspaso de conocimiento</a:t>
            </a:r>
            <a:endParaRPr lang="en-US" sz="1200" dirty="0"/>
          </a:p>
        </p:txBody>
      </p:sp>
      <p:sp>
        <p:nvSpPr>
          <p:cNvPr id="115" name="Text 111"/>
          <p:cNvSpPr/>
          <p:nvPr/>
        </p:nvSpPr>
        <p:spPr>
          <a:xfrm>
            <a:off x="685800" y="6609636"/>
            <a:ext cx="186080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95" kern="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 CONSEGUIDOS</a:t>
            </a:r>
            <a:endParaRPr lang="en-US" sz="975" dirty="0"/>
          </a:p>
        </p:txBody>
      </p:sp>
      <p:sp>
        <p:nvSpPr>
          <p:cNvPr id="116" name="Shape 112"/>
          <p:cNvSpPr/>
          <p:nvPr/>
        </p:nvSpPr>
        <p:spPr>
          <a:xfrm>
            <a:off x="685800" y="68877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17" name="Text 113"/>
          <p:cNvSpPr/>
          <p:nvPr/>
        </p:nvSpPr>
        <p:spPr>
          <a:xfrm>
            <a:off x="685800" y="70439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+1.000</a:t>
            </a:r>
            <a:endParaRPr lang="en-US" sz="4200" dirty="0"/>
          </a:p>
        </p:txBody>
      </p:sp>
      <p:sp>
        <p:nvSpPr>
          <p:cNvPr id="118" name="Text 114"/>
          <p:cNvSpPr/>
          <p:nvPr/>
        </p:nvSpPr>
        <p:spPr>
          <a:xfrm>
            <a:off x="685800" y="76535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flujos, +100 site collections e InfoPath</a:t>
            </a:r>
            <a:endParaRPr lang="en-US" sz="1200" dirty="0"/>
          </a:p>
        </p:txBody>
      </p:sp>
      <p:sp>
        <p:nvSpPr>
          <p:cNvPr id="119" name="Shape 115"/>
          <p:cNvSpPr/>
          <p:nvPr/>
        </p:nvSpPr>
        <p:spPr>
          <a:xfrm>
            <a:off x="4967288" y="68877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0" name="Text 116"/>
          <p:cNvSpPr/>
          <p:nvPr/>
        </p:nvSpPr>
        <p:spPr>
          <a:xfrm>
            <a:off x="4967288" y="70439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~70%</a:t>
            </a:r>
            <a:endParaRPr lang="en-US" sz="4200" dirty="0"/>
          </a:p>
        </p:txBody>
      </p:sp>
      <p:sp>
        <p:nvSpPr>
          <p:cNvPr id="121" name="Text 117"/>
          <p:cNvSpPr/>
          <p:nvPr/>
        </p:nvSpPr>
        <p:spPr>
          <a:xfrm>
            <a:off x="4967288" y="76535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flujos de complejidad baja (&lt;10 acciones)</a:t>
            </a:r>
            <a:endParaRPr lang="en-US" sz="1200" dirty="0"/>
          </a:p>
        </p:txBody>
      </p:sp>
      <p:sp>
        <p:nvSpPr>
          <p:cNvPr id="122" name="Shape 118"/>
          <p:cNvSpPr/>
          <p:nvPr/>
        </p:nvSpPr>
        <p:spPr>
          <a:xfrm>
            <a:off x="9248775" y="68877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3" name="Text 119"/>
          <p:cNvSpPr/>
          <p:nvPr/>
        </p:nvSpPr>
        <p:spPr>
          <a:xfrm>
            <a:off x="9248775" y="70439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&lt;30%</a:t>
            </a:r>
            <a:endParaRPr lang="en-US" sz="4200" dirty="0"/>
          </a:p>
        </p:txBody>
      </p:sp>
      <p:sp>
        <p:nvSpPr>
          <p:cNvPr id="124" name="Text 120"/>
          <p:cNvSpPr/>
          <p:nvPr/>
        </p:nvSpPr>
        <p:spPr>
          <a:xfrm>
            <a:off x="9248775" y="76535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 complejidad media (10–50 acciones)</a:t>
            </a:r>
            <a:endParaRPr lang="en-US" sz="1200" dirty="0"/>
          </a:p>
        </p:txBody>
      </p:sp>
      <p:sp>
        <p:nvSpPr>
          <p:cNvPr id="125" name="Shape 121"/>
          <p:cNvSpPr/>
          <p:nvPr/>
        </p:nvSpPr>
        <p:spPr>
          <a:xfrm>
            <a:off x="13530263" y="6887766"/>
            <a:ext cx="4071938" cy="22860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6" name="Text 122"/>
          <p:cNvSpPr/>
          <p:nvPr/>
        </p:nvSpPr>
        <p:spPr>
          <a:xfrm>
            <a:off x="13530263" y="7043976"/>
            <a:ext cx="44791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87"/>
              </a:lnSpc>
              <a:buNone/>
            </a:pPr>
            <a:r>
              <a:rPr lang="en-US" sz="4200" b="1" dirty="0">
                <a:solidFill>
                  <a:srgbClr val="F6931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 de 3</a:t>
            </a:r>
            <a:endParaRPr lang="en-US" sz="4200" dirty="0"/>
          </a:p>
        </p:txBody>
      </p:sp>
      <p:sp>
        <p:nvSpPr>
          <p:cNvPr id="127" name="Text 123"/>
          <p:cNvSpPr/>
          <p:nvPr/>
        </p:nvSpPr>
        <p:spPr>
          <a:xfrm>
            <a:off x="13530263" y="7653576"/>
            <a:ext cx="447913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200" b="1" dirty="0">
                <a:solidFill>
                  <a:srgbClr val="AEB3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flujos optimizados o eliminados</a:t>
            </a:r>
            <a:endParaRPr lang="en-US" sz="1200" dirty="0"/>
          </a:p>
        </p:txBody>
      </p:sp>
      <p:sp>
        <p:nvSpPr>
          <p:cNvPr id="128" name="Shape 124"/>
          <p:cNvSpPr/>
          <p:nvPr/>
        </p:nvSpPr>
        <p:spPr>
          <a:xfrm>
            <a:off x="685800" y="8600123"/>
            <a:ext cx="38100" cy="772477"/>
          </a:xfrm>
          <a:prstGeom prst="rect">
            <a:avLst/>
          </a:prstGeom>
          <a:solidFill>
            <a:srgbClr val="F6931E"/>
          </a:solidFill>
          <a:ln/>
        </p:spPr>
      </p:sp>
      <p:sp>
        <p:nvSpPr>
          <p:cNvPr id="129" name="Text 125"/>
          <p:cNvSpPr/>
          <p:nvPr/>
        </p:nvSpPr>
        <p:spPr>
          <a:xfrm>
            <a:off x="933450" y="8847773"/>
            <a:ext cx="14672100" cy="562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89"/>
              </a:lnSpc>
              <a:buNone/>
            </a:pPr>
            <a:r>
              <a:rPr lang="en-US" sz="1425" i="1" dirty="0">
                <a:solidFill>
                  <a:srgbClr val="E6E8F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"El gran reto era organizar y migrar un enorme volumen de usuarios, flujos, formularios y sitios; el mayor éxito fue lograrlo cumpliendo tiempos y compromisos y haciendo el cambio transparente para los usuarios."</a:t>
            </a:r>
            <a:endParaRPr lang="en-US" sz="1425" dirty="0"/>
          </a:p>
        </p:txBody>
      </p:sp>
      <p:sp>
        <p:nvSpPr>
          <p:cNvPr id="130" name="Text 126"/>
          <p:cNvSpPr/>
          <p:nvPr/>
        </p:nvSpPr>
        <p:spPr>
          <a:xfrm>
            <a:off x="15145358" y="8925401"/>
            <a:ext cx="245684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Ing. Pablo Fernández Hinojosa</a:t>
            </a:r>
            <a:endParaRPr lang="en-US" sz="1275" dirty="0"/>
          </a:p>
        </p:txBody>
      </p:sp>
      <p:sp>
        <p:nvSpPr>
          <p:cNvPr id="131" name="Text 127"/>
          <p:cNvSpPr/>
          <p:nvPr/>
        </p:nvSpPr>
        <p:spPr>
          <a:xfrm>
            <a:off x="15145358" y="9134951"/>
            <a:ext cx="2456843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8B90A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Ingeniería de Software · Equipo YPF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2026-07-13T18:11:29Z</dcterms:created>
  <dcterms:modified xsi:type="dcterms:W3CDTF">2026-07-13T18:11:29Z</dcterms:modified>
</cp:coreProperties>
</file>